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3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0F1"/>
    <a:srgbClr val="8D989F"/>
    <a:srgbClr val="2C3E50"/>
    <a:srgbClr val="D7DDE0"/>
    <a:srgbClr val="BDC3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96" y="6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727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319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D98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MORPHOLOGIE MATHÉMATIQUE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0" y="2926080"/>
            <a:ext cx="1828800" cy="0"/>
          </a:xfrm>
          <a:prstGeom prst="line">
            <a:avLst/>
          </a:prstGeom>
          <a:noFill/>
          <a:ln w="38100">
            <a:solidFill>
              <a:schemeClr val="bg2">
                <a:lumMod val="75000"/>
              </a:scheme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Interactive &amp; Détection d'Objets (YOLO)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0" y="4526267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Présenté par Karim  </a:t>
            </a:r>
            <a:r>
              <a:rPr lang="en-US" sz="1200" dirty="0" err="1">
                <a:solidFill>
                  <a:schemeClr val="bg1"/>
                </a:solidFill>
              </a:rPr>
              <a:t>Laafif</a:t>
            </a:r>
            <a:r>
              <a:rPr lang="en-US" sz="1200" dirty="0">
                <a:solidFill>
                  <a:schemeClr val="bg1"/>
                </a:solidFill>
              </a:rPr>
              <a:t> – Marouane </a:t>
            </a:r>
            <a:r>
              <a:rPr lang="en-US" sz="1200" dirty="0" err="1">
                <a:solidFill>
                  <a:schemeClr val="bg1"/>
                </a:solidFill>
              </a:rPr>
              <a:t>Nicherhanne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89455D-CA6D-15AD-C455-D46D33210918}"/>
              </a:ext>
            </a:extLst>
          </p:cNvPr>
          <p:cNvSpPr txBox="1"/>
          <p:nvPr/>
        </p:nvSpPr>
        <p:spPr>
          <a:xfrm>
            <a:off x="3699806" y="4069067"/>
            <a:ext cx="1744388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ADCFC"/>
                </a:solidFill>
                <a:latin typeface="Calibri"/>
              </a:defRPr>
            </a:pPr>
            <a:r>
              <a:rPr sz="1050" dirty="0" err="1"/>
              <a:t>Traitement</a:t>
            </a:r>
            <a:r>
              <a:rPr sz="1050" dirty="0"/>
              <a:t> </a:t>
            </a:r>
            <a:r>
              <a:rPr sz="1050" dirty="0" err="1"/>
              <a:t>Avancé</a:t>
            </a:r>
            <a:r>
              <a:rPr sz="1050" dirty="0"/>
              <a:t> </a:t>
            </a:r>
            <a:r>
              <a:rPr sz="1050" dirty="0" err="1"/>
              <a:t>d'Images</a:t>
            </a:r>
            <a:endParaRPr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D98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4306" y="1768190"/>
            <a:ext cx="6335389" cy="71558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rPr sz="4050" dirty="0" err="1"/>
              <a:t>Morphologie</a:t>
            </a:r>
            <a:r>
              <a:rPr sz="4050" dirty="0"/>
              <a:t> </a:t>
            </a:r>
            <a:r>
              <a:rPr sz="4050" dirty="0" err="1"/>
              <a:t>Mathématique</a:t>
            </a:r>
            <a:endParaRPr sz="4050" dirty="0"/>
          </a:p>
        </p:txBody>
      </p:sp>
      <p:sp>
        <p:nvSpPr>
          <p:cNvPr id="3" name="TextBox 2"/>
          <p:cNvSpPr txBox="1"/>
          <p:nvPr/>
        </p:nvSpPr>
        <p:spPr>
          <a:xfrm>
            <a:off x="2225429" y="2674621"/>
            <a:ext cx="4693144" cy="392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CADCFC"/>
                </a:solidFill>
                <a:latin typeface="Calibri Light"/>
              </a:defRPr>
            </a:pPr>
            <a:r>
              <a:rPr sz="1950"/>
              <a:t>Érosion • Dilatation • Ouverture • Fermeture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223260"/>
            <a:ext cx="2743200" cy="3429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rgbClr val="8D9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1" y="1051560"/>
            <a:ext cx="3886200" cy="393192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/>
              <a:t> Érosion (Erosion)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4747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</a:rPr>
              <a:t>Réduit la taille des objets. "Grignote" les contours.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00724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/>
              <a:t>• Effet : </a:t>
            </a:r>
            <a:r>
              <a:rPr lang="en-US" sz="1200" dirty="0">
                <a:solidFill>
                  <a:srgbClr val="34495E"/>
                </a:solidFill>
              </a:rPr>
              <a:t>Supprime le bruit blanc.
</a:t>
            </a:r>
            <a:r>
              <a:rPr lang="en-US" sz="1200" b="1" dirty="0"/>
              <a:t>• Maths : </a:t>
            </a:r>
            <a:r>
              <a:rPr lang="en-US" sz="1200" dirty="0">
                <a:solidFill>
                  <a:srgbClr val="34495E"/>
                </a:solidFill>
              </a:rPr>
              <a:t>min(voisinage).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63040" y="4023360"/>
            <a:ext cx="1828800" cy="731520"/>
          </a:xfrm>
          <a:prstGeom prst="rect">
            <a:avLst/>
          </a:prstGeom>
          <a:solidFill>
            <a:srgbClr val="DFE6E9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4023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</a:rPr>
              <a:t>A ⊖ 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00600" y="1051560"/>
            <a:ext cx="3886200" cy="393192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/>
              <a:t> Dilatation (Dilation)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83480" y="2103120"/>
            <a:ext cx="34747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286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</a:rPr>
              <a:t>Agrandit les objets. Comble les trous.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600724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/>
              <a:t>• Effet : </a:t>
            </a:r>
            <a:r>
              <a:rPr lang="en-US" sz="1200" dirty="0">
                <a:solidFill>
                  <a:srgbClr val="34495E"/>
                </a:solidFill>
              </a:rPr>
              <a:t>Connecte les zones disjointes.
</a:t>
            </a:r>
            <a:r>
              <a:rPr lang="en-US" sz="1200" b="1" dirty="0"/>
              <a:t>• Maths : </a:t>
            </a:r>
            <a:r>
              <a:rPr lang="en-US" sz="1200" dirty="0">
                <a:solidFill>
                  <a:srgbClr val="34495E"/>
                </a:solidFill>
              </a:rPr>
              <a:t>max(voisinage).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4040904"/>
            <a:ext cx="1828800" cy="731520"/>
          </a:xfrm>
          <a:prstGeom prst="rect">
            <a:avLst/>
          </a:prstGeom>
          <a:solidFill>
            <a:srgbClr val="DFE6E9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4040904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</a:rPr>
              <a:t>A ⊕ B</a:t>
            </a:r>
            <a:endParaRPr lang="en-US" sz="1400" dirty="0"/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3E15BB6D-E2F0-7ED0-C752-8182C41E69FA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530" y="-91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2"/>
                </a:solidFill>
              </a:rPr>
              <a:t>Opérations Fondamentales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04E4A2-2FFF-FD54-0D48-B5723A753C99}"/>
              </a:ext>
            </a:extLst>
          </p:cNvPr>
          <p:cNvSpPr txBox="1"/>
          <p:nvPr/>
        </p:nvSpPr>
        <p:spPr>
          <a:xfrm>
            <a:off x="8725296" y="47988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2"/>
                </a:solidFill>
              </a:rPr>
              <a:t>Opérations Composées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65436"/>
            <a:ext cx="4114800" cy="197978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5436"/>
            <a:ext cx="91440" cy="197978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6876"/>
            <a:ext cx="3657600" cy="282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Ouverture (Opening)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514076"/>
            <a:ext cx="3657600" cy="28282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14076"/>
            <a:ext cx="3657600" cy="282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Érosion → Dilatation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71276"/>
            <a:ext cx="3657600" cy="565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Nettoie les petites impuretés sans changer la taille des objets.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5881" y="2383288"/>
            <a:ext cx="3657600" cy="424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Idéal pour : Supprimer le bruit "sel".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965436"/>
            <a:ext cx="4114800" cy="197978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965436"/>
            <a:ext cx="91440" cy="1979782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56876"/>
            <a:ext cx="3657600" cy="282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Fermeture (Closing)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46320" y="1514076"/>
            <a:ext cx="3657600" cy="28282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514076"/>
            <a:ext cx="3657600" cy="282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Dilatation → Érosion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971276"/>
            <a:ext cx="3657600" cy="565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Ferme les petits trous et lisse les contours.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383288"/>
            <a:ext cx="3657600" cy="424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1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Idéal</a:t>
            </a:r>
            <a:r>
              <a: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pour : Combler les trous.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5760" y="2998913"/>
            <a:ext cx="4114800" cy="197978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998913"/>
            <a:ext cx="91440" cy="1979782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090353"/>
            <a:ext cx="3657600" cy="282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Gradient Morphologique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3547553"/>
            <a:ext cx="3657600" cy="28282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47553"/>
            <a:ext cx="3657600" cy="282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Dilatation - Érosion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004753"/>
            <a:ext cx="3657600" cy="565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Différence entre dilatation et érosion.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5881" y="4411980"/>
            <a:ext cx="3657600" cy="424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Idéal pour : Détection de contours.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663440" y="2998913"/>
            <a:ext cx="4114800" cy="197978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998913"/>
            <a:ext cx="91440" cy="1979782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090353"/>
            <a:ext cx="3657600" cy="282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8C8D"/>
                </a:solidFill>
              </a:rPr>
              <a:t> Top Hat / Black Hat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3547553"/>
            <a:ext cx="3657600" cy="28282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547553"/>
            <a:ext cx="3657600" cy="282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- Ouverture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4004753"/>
            <a:ext cx="3657600" cy="565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Extrait les éléments plus clairs/sombres que le voisinage.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4482155"/>
            <a:ext cx="3657600" cy="424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Idéal pour : Contraste local.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BC7865-0829-13A3-BD8A-79439CF8807F}"/>
              </a:ext>
            </a:extLst>
          </p:cNvPr>
          <p:cNvSpPr txBox="1"/>
          <p:nvPr/>
        </p:nvSpPr>
        <p:spPr>
          <a:xfrm>
            <a:off x="8725296" y="47988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DC3C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2"/>
                </a:solidFill>
              </a:rPr>
              <a:t>Filtrage d'Images (Lissage &amp; Contours)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2912"/>
            <a:ext cx="2560320" cy="1602823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2377440" cy="2697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 Gaussian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377440" cy="0"/>
          </a:xfrm>
          <a:prstGeom prst="line">
            <a:avLst/>
          </a:prstGeom>
          <a:noFill/>
          <a:ln w="25400">
            <a:solidFill>
              <a:srgbClr val="BDC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8917"/>
            <a:ext cx="2377440" cy="539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Lissage moyenneur.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75071"/>
            <a:ext cx="2377440" cy="539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Usage: Réduction bruit générique.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02912"/>
            <a:ext cx="2560320" cy="1593295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005842"/>
            <a:ext cx="2377440" cy="269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 Median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2"/>
            <a:ext cx="2377440" cy="0"/>
          </a:xfrm>
          <a:prstGeom prst="line">
            <a:avLst/>
          </a:prstGeom>
          <a:noFill/>
          <a:ln w="25400">
            <a:solidFill>
              <a:srgbClr val="BDC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497888"/>
            <a:ext cx="2377440" cy="396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Valeur médiane.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976422"/>
            <a:ext cx="2377440" cy="538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Usage: TOP pour bruit Sel/Poivre.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97591"/>
            <a:ext cx="2743200" cy="1602823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995779"/>
            <a:ext cx="2743201" cy="1597501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BDC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4970" y="1037404"/>
            <a:ext cx="1977580" cy="203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35400"/>
                </a:solidFill>
              </a:rPr>
              <a:t> </a:t>
            </a:r>
            <a:r>
              <a:rPr lang="en-US" sz="1400" b="1" dirty="0">
                <a:solidFill>
                  <a:srgbClr val="2C3E50"/>
                </a:solidFill>
              </a:rPr>
              <a:t>Bilateral</a:t>
            </a:r>
            <a:endParaRPr lang="en-US" sz="1400" dirty="0">
              <a:solidFill>
                <a:srgbClr val="2C3E5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0" y="1371603"/>
            <a:ext cx="1977580" cy="0"/>
          </a:xfrm>
          <a:prstGeom prst="line">
            <a:avLst/>
          </a:prstGeom>
          <a:noFill/>
          <a:ln w="25400">
            <a:solidFill>
              <a:srgbClr val="BDC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4970" y="1487035"/>
            <a:ext cx="1977580" cy="407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Lisse en préservant bords.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134511"/>
            <a:ext cx="1977580" cy="407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Usage: Effet "peau lisse" / cartoon.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0" y="2684720"/>
            <a:ext cx="2560320" cy="228600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1" name="Text 19"/>
          <p:cNvSpPr/>
          <p:nvPr/>
        </p:nvSpPr>
        <p:spPr>
          <a:xfrm>
            <a:off x="1920240" y="277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 Canny Edge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920240" y="3141920"/>
            <a:ext cx="2377440" cy="0"/>
          </a:xfrm>
          <a:prstGeom prst="line">
            <a:avLst/>
          </a:prstGeom>
          <a:noFill/>
          <a:ln w="25400">
            <a:solidFill>
              <a:srgbClr val="BDC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20240" y="3324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Détecteur optimal.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4147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Usage: Segmentation précise.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684720"/>
            <a:ext cx="2560320" cy="228600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77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 Sobel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3141920"/>
            <a:ext cx="2377440" cy="0"/>
          </a:xfrm>
          <a:prstGeom prst="line">
            <a:avLst/>
          </a:prstGeom>
          <a:noFill/>
          <a:ln w="25400">
            <a:solidFill>
              <a:srgbClr val="BDC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324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Gradient directionnel.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4147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Usage: Changements d'intensité.</a:t>
            </a:r>
            <a:endParaRPr 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1AD971-5095-1F57-5F88-5B5FFE0EBDDD}"/>
              </a:ext>
            </a:extLst>
          </p:cNvPr>
          <p:cNvSpPr txBox="1"/>
          <p:nvPr/>
        </p:nvSpPr>
        <p:spPr>
          <a:xfrm>
            <a:off x="8725296" y="47988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2"/>
                </a:solidFill>
              </a:rPr>
              <a:t>YOLO: You Only Look Once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DC3C7"/>
                </a:solidFill>
              </a:rPr>
              <a:t>L'État de l'Art en Détection</a:t>
            </a:r>
            <a:endParaRPr lang="en-US" sz="2000" dirty="0">
              <a:solidFill>
                <a:srgbClr val="BDC3C7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Rapidité Extrême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Traite l'image en une seule passe. Idéal pour le temps réel.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Précision &amp; Classes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Modèle YOLOv8 (COCO Dataset). 80 classes (Personnes, etc.).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Intégration Projet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Combiné avec OpenCV pour superposer IA et Morphologie.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116420"/>
            <a:ext cx="2939902" cy="3700133"/>
          </a:xfrm>
          <a:prstGeom prst="rect">
            <a:avLst/>
          </a:prstGeom>
          <a:solidFill>
            <a:srgbClr val="BDC3C7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80763" y="1806250"/>
            <a:ext cx="2603913" cy="37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Pourquoi YOLO ?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69280" y="2127045"/>
            <a:ext cx="2603913" cy="111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Contrairement aux méthodes classiques (Haar, HOG), YOLO comprend le contexte global de l'image.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04470" y="3504022"/>
            <a:ext cx="755975" cy="2691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15" name="Text 13"/>
          <p:cNvSpPr/>
          <p:nvPr/>
        </p:nvSpPr>
        <p:spPr>
          <a:xfrm>
            <a:off x="5923663" y="3473657"/>
            <a:ext cx="959057" cy="296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TensorFlow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76523" y="3504022"/>
            <a:ext cx="755975" cy="265645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</p:spPr>
      </p:sp>
      <p:sp>
        <p:nvSpPr>
          <p:cNvPr id="17" name="Text 15"/>
          <p:cNvSpPr/>
          <p:nvPr/>
        </p:nvSpPr>
        <p:spPr>
          <a:xfrm>
            <a:off x="7276523" y="3477706"/>
            <a:ext cx="755975" cy="296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PyTorch</a:t>
            </a:r>
            <a:endParaRPr 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FED224-EE7A-56AD-98BF-E3D9D5E0FCA6}"/>
              </a:ext>
            </a:extLst>
          </p:cNvPr>
          <p:cNvSpPr txBox="1"/>
          <p:nvPr/>
        </p:nvSpPr>
        <p:spPr>
          <a:xfrm>
            <a:off x="8725296" y="47988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26581"/>
            <a:ext cx="640080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371600" y="483781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C3E50"/>
                </a:solidFill>
              </a:rPr>
              <a:t>Démonstration de l'Application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1306741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F8C8D"/>
                </a:solidFill>
              </a:rPr>
              <a:t>Une interface unifiée pour expérimenter en temps réel.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2312581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🎛️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3135541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Contrôle Total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3501301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Paramètres ajustables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2312581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📷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0" y="3135541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Temps Réel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3501301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Support Webcam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2312581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0" y="3135541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Comparaison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3501301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Vues Avant/Après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4178595"/>
            <a:ext cx="2743200" cy="731520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4141381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Lancer la </a:t>
            </a:r>
            <a:r>
              <a:rPr lang="en-US" sz="1800" b="1" dirty="0" err="1">
                <a:solidFill>
                  <a:srgbClr val="FFFFFF"/>
                </a:solidFill>
              </a:rPr>
              <a:t>Démo</a:t>
            </a:r>
            <a:endParaRPr lang="en-US" sz="1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95744B-42C6-B348-23D6-03D918C2BD2D}"/>
              </a:ext>
            </a:extLst>
          </p:cNvPr>
          <p:cNvSpPr txBox="1"/>
          <p:nvPr/>
        </p:nvSpPr>
        <p:spPr>
          <a:xfrm>
            <a:off x="8725296" y="47988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7194" y="274320"/>
            <a:ext cx="7669087" cy="461665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defRPr sz="4000" b="1">
                <a:solidFill>
                  <a:srgbClr val="1E2761"/>
                </a:solidFill>
                <a:latin typeface="Calibri"/>
              </a:defRPr>
            </a:pP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Qu'est-ce</a:t>
            </a: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que la </a:t>
            </a: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Morphologie</a:t>
            </a: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Mathématique</a:t>
            </a: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?</a:t>
            </a:r>
          </a:p>
        </p:txBody>
      </p:sp>
      <p:sp>
        <p:nvSpPr>
          <p:cNvPr id="3" name="Rectangle 2"/>
          <p:cNvSpPr/>
          <p:nvPr/>
        </p:nvSpPr>
        <p:spPr>
          <a:xfrm>
            <a:off x="313660" y="1028700"/>
            <a:ext cx="4052600" cy="411480"/>
          </a:xfrm>
          <a:prstGeom prst="rect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1350" dirty="0" err="1"/>
              <a:t>Définition</a:t>
            </a:r>
            <a:endParaRPr sz="1350" dirty="0"/>
          </a:p>
        </p:txBody>
      </p:sp>
      <p:sp>
        <p:nvSpPr>
          <p:cNvPr id="4" name="TextBox 3"/>
          <p:cNvSpPr txBox="1"/>
          <p:nvPr/>
        </p:nvSpPr>
        <p:spPr>
          <a:xfrm>
            <a:off x="271130" y="1508760"/>
            <a:ext cx="4095130" cy="1346522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La </a:t>
            </a:r>
            <a:r>
              <a:rPr sz="1600" dirty="0" err="1"/>
              <a:t>morphologie</a:t>
            </a:r>
            <a:r>
              <a:rPr sz="1600" dirty="0"/>
              <a:t> </a:t>
            </a:r>
            <a:r>
              <a:rPr sz="1600" dirty="0" err="1"/>
              <a:t>mathématique</a:t>
            </a:r>
            <a:r>
              <a:rPr sz="1600" dirty="0"/>
              <a:t> </a:t>
            </a:r>
            <a:r>
              <a:rPr sz="1600" dirty="0" err="1"/>
              <a:t>est</a:t>
            </a:r>
            <a:r>
              <a:rPr sz="1600" dirty="0"/>
              <a:t> </a:t>
            </a:r>
            <a:r>
              <a:rPr sz="1600" dirty="0" err="1"/>
              <a:t>une</a:t>
            </a:r>
            <a:r>
              <a:rPr sz="1600" dirty="0"/>
              <a:t> </a:t>
            </a:r>
            <a:r>
              <a:rPr sz="1600" dirty="0" err="1"/>
              <a:t>théorie</a:t>
            </a:r>
            <a:r>
              <a:rPr sz="1600" dirty="0"/>
              <a:t> et technique pour </a:t>
            </a:r>
            <a:r>
              <a:rPr sz="1600" dirty="0" err="1"/>
              <a:t>l'analyse</a:t>
            </a:r>
            <a:r>
              <a:rPr sz="1600" dirty="0"/>
              <a:t> et le </a:t>
            </a:r>
            <a:r>
              <a:rPr sz="1600" dirty="0" err="1"/>
              <a:t>traitement</a:t>
            </a:r>
            <a:r>
              <a:rPr sz="1600" dirty="0"/>
              <a:t> </a:t>
            </a:r>
            <a:r>
              <a:rPr sz="1600" dirty="0" err="1"/>
              <a:t>d'images</a:t>
            </a:r>
            <a:r>
              <a:rPr sz="1600" dirty="0"/>
              <a:t> </a:t>
            </a:r>
            <a:r>
              <a:rPr sz="1600" dirty="0" err="1"/>
              <a:t>géométriques</a:t>
            </a:r>
            <a:r>
              <a:rPr sz="1600" dirty="0"/>
              <a:t>, </a:t>
            </a:r>
            <a:r>
              <a:rPr sz="1600" dirty="0" err="1"/>
              <a:t>basée</a:t>
            </a:r>
            <a:r>
              <a:rPr sz="1600" dirty="0"/>
              <a:t> sur la </a:t>
            </a:r>
            <a:r>
              <a:rPr sz="1600" dirty="0" err="1"/>
              <a:t>théorie</a:t>
            </a:r>
            <a:r>
              <a:rPr sz="1600" dirty="0"/>
              <a:t> des ensembles, la </a:t>
            </a:r>
            <a:r>
              <a:rPr sz="1600" dirty="0" err="1"/>
              <a:t>topologie</a:t>
            </a:r>
            <a:r>
              <a:rPr sz="1600" dirty="0"/>
              <a:t> et les </a:t>
            </a:r>
            <a:r>
              <a:rPr sz="1600" dirty="0" err="1"/>
              <a:t>treillis</a:t>
            </a:r>
            <a:r>
              <a:rPr sz="1600" dirty="0"/>
              <a:t> </a:t>
            </a:r>
            <a:r>
              <a:rPr sz="1600" dirty="0" err="1"/>
              <a:t>aléatoires</a:t>
            </a:r>
            <a:r>
              <a:rPr sz="1600"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77739" y="1028700"/>
            <a:ext cx="4052599" cy="411480"/>
          </a:xfrm>
          <a:prstGeom prst="rect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1350"/>
              <a:t>Principes Clés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77740" y="1508760"/>
            <a:ext cx="4132344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Opérations</a:t>
            </a:r>
            <a:r>
              <a:rPr sz="1600" dirty="0"/>
              <a:t> </a:t>
            </a:r>
            <a:r>
              <a:rPr sz="1600" dirty="0" err="1"/>
              <a:t>ensemblistes</a:t>
            </a:r>
            <a:r>
              <a:rPr sz="1600" dirty="0"/>
              <a:t> sur les </a:t>
            </a:r>
            <a:r>
              <a:rPr sz="1600" dirty="0" err="1"/>
              <a:t>formes</a:t>
            </a:r>
            <a:endParaRPr sz="1600" dirty="0"/>
          </a:p>
          <a:p>
            <a:pPr>
              <a:spcBef>
                <a:spcPts val="600"/>
              </a:spcBef>
              <a:defRPr sz="160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Utilisation</a:t>
            </a:r>
            <a:r>
              <a:rPr sz="1600" dirty="0"/>
              <a:t> </a:t>
            </a:r>
            <a:r>
              <a:rPr sz="1600" dirty="0" err="1"/>
              <a:t>d'élément</a:t>
            </a:r>
            <a:r>
              <a:rPr sz="1600" dirty="0"/>
              <a:t> </a:t>
            </a:r>
            <a:r>
              <a:rPr sz="1600" dirty="0" err="1"/>
              <a:t>structurant</a:t>
            </a:r>
            <a:endParaRPr sz="1600" dirty="0"/>
          </a:p>
          <a:p>
            <a:pPr>
              <a:spcBef>
                <a:spcPts val="600"/>
              </a:spcBef>
              <a:defRPr sz="160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Préservation</a:t>
            </a:r>
            <a:r>
              <a:rPr sz="1600" dirty="0"/>
              <a:t> des relations </a:t>
            </a:r>
            <a:r>
              <a:rPr sz="1600" dirty="0" err="1"/>
              <a:t>spatiales</a:t>
            </a:r>
            <a:endParaRPr sz="1600" dirty="0"/>
          </a:p>
          <a:p>
            <a:pPr>
              <a:spcBef>
                <a:spcPts val="600"/>
              </a:spcBef>
              <a:defRPr sz="1600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Base pour </a:t>
            </a:r>
            <a:r>
              <a:rPr sz="1600" dirty="0" err="1"/>
              <a:t>l'analyse</a:t>
            </a:r>
            <a:r>
              <a:rPr sz="1600" dirty="0"/>
              <a:t> </a:t>
            </a:r>
            <a:r>
              <a:rPr sz="1600" dirty="0" err="1"/>
              <a:t>d'images</a:t>
            </a:r>
            <a:r>
              <a:rPr sz="1600" dirty="0"/>
              <a:t> </a:t>
            </a:r>
            <a:r>
              <a:rPr sz="1600" dirty="0" err="1"/>
              <a:t>binaires</a:t>
            </a:r>
            <a:r>
              <a:rPr sz="1600" dirty="0"/>
              <a:t> et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niveaux</a:t>
            </a:r>
            <a:r>
              <a:rPr sz="1600" dirty="0"/>
              <a:t> de gris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13660" y="3834099"/>
            <a:ext cx="8516678" cy="411479"/>
          </a:xfrm>
          <a:prstGeom prst="rect">
            <a:avLst/>
          </a:prstGeom>
          <a:solidFill>
            <a:srgbClr val="8D989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424505" y="3849848"/>
            <a:ext cx="802067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Développée</a:t>
            </a:r>
            <a:r>
              <a:rPr sz="1600" dirty="0"/>
              <a:t> par Georges </a:t>
            </a:r>
            <a:r>
              <a:rPr sz="1600" dirty="0" err="1"/>
              <a:t>Matheron</a:t>
            </a:r>
            <a:r>
              <a:rPr sz="1600" dirty="0"/>
              <a:t> et Jean Serra (1960s) pour </a:t>
            </a:r>
            <a:r>
              <a:rPr sz="1600" dirty="0" err="1"/>
              <a:t>l'analyse</a:t>
            </a:r>
            <a:r>
              <a:rPr sz="1600" dirty="0"/>
              <a:t> </a:t>
            </a:r>
            <a:r>
              <a:rPr sz="1600" dirty="0" err="1"/>
              <a:t>pétrographique</a:t>
            </a:r>
            <a:endParaRPr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27A848-5289-3082-28E6-1EB5CC25F9A9}"/>
              </a:ext>
            </a:extLst>
          </p:cNvPr>
          <p:cNvSpPr txBox="1"/>
          <p:nvPr/>
        </p:nvSpPr>
        <p:spPr>
          <a:xfrm>
            <a:off x="8725296" y="47988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5900" y="274320"/>
            <a:ext cx="4140877" cy="461665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defRPr sz="4000" b="1">
                <a:solidFill>
                  <a:srgbClr val="1E2761"/>
                </a:solidFill>
                <a:latin typeface="Calibri"/>
              </a:defRPr>
            </a:pP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Concepts </a:t>
            </a: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Fondamentaux</a:t>
            </a:r>
            <a:endParaRPr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1413997" y="882342"/>
            <a:ext cx="342900" cy="342900"/>
          </a:xfrm>
          <a:prstGeom prst="ellipse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sz="1500" dirty="0"/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9195" y="1383224"/>
            <a:ext cx="1920240" cy="323165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rPr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Image </a:t>
            </a: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Binaire</a:t>
            </a:r>
            <a:endParaRPr sz="13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0985" y="1773882"/>
            <a:ext cx="2631824" cy="1508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TextBox 5"/>
          <p:cNvSpPr txBox="1"/>
          <p:nvPr/>
        </p:nvSpPr>
        <p:spPr>
          <a:xfrm>
            <a:off x="541196" y="1974532"/>
            <a:ext cx="2252509" cy="854080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I(</a:t>
            </a:r>
            <a:r>
              <a:rPr sz="1600" dirty="0" err="1"/>
              <a:t>x,y</a:t>
            </a:r>
            <a:r>
              <a:rPr sz="1600" dirty="0"/>
              <a:t>) ∈ {0,1}</a:t>
            </a:r>
            <a:br>
              <a:rPr sz="1600" dirty="0"/>
            </a:br>
            <a:r>
              <a:rPr sz="1600" dirty="0"/>
              <a:t>Fond (0) vs </a:t>
            </a:r>
            <a:r>
              <a:rPr sz="1600" dirty="0" err="1"/>
              <a:t>Objet</a:t>
            </a:r>
            <a:r>
              <a:rPr sz="1600" dirty="0"/>
              <a:t> (1)</a:t>
            </a:r>
            <a:br>
              <a:rPr sz="1600" dirty="0"/>
            </a:br>
            <a:r>
              <a:rPr sz="1600" dirty="0"/>
              <a:t>Base de la </a:t>
            </a:r>
            <a:r>
              <a:rPr sz="1600" dirty="0" err="1"/>
              <a:t>morphologie</a:t>
            </a:r>
            <a:endParaRPr sz="1600" dirty="0"/>
          </a:p>
        </p:txBody>
      </p:sp>
      <p:sp>
        <p:nvSpPr>
          <p:cNvPr id="7" name="Oval 6"/>
          <p:cNvSpPr/>
          <p:nvPr/>
        </p:nvSpPr>
        <p:spPr>
          <a:xfrm>
            <a:off x="4395632" y="882342"/>
            <a:ext cx="342900" cy="342900"/>
          </a:xfrm>
          <a:prstGeom prst="ellipse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sz="1500" dirty="0"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3300" y="1371600"/>
            <a:ext cx="1920240" cy="323165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Élément</a:t>
            </a:r>
            <a:r>
              <a:rPr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Structurant</a:t>
            </a:r>
            <a:endParaRPr sz="13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75677" y="1783080"/>
            <a:ext cx="2631823" cy="1508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3361619" y="1968238"/>
            <a:ext cx="2324011" cy="854080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Forme</a:t>
            </a:r>
            <a:r>
              <a:rPr sz="1600" dirty="0"/>
              <a:t> </a:t>
            </a:r>
            <a:r>
              <a:rPr sz="1600" dirty="0" err="1"/>
              <a:t>prédéfinie</a:t>
            </a:r>
            <a:r>
              <a:rPr sz="1600" dirty="0"/>
              <a:t> (B)</a:t>
            </a:r>
            <a:br>
              <a:rPr sz="1600" dirty="0"/>
            </a:br>
            <a:r>
              <a:rPr sz="1600" dirty="0"/>
              <a:t>Taille et </a:t>
            </a:r>
            <a:r>
              <a:rPr sz="1600" dirty="0" err="1"/>
              <a:t>forme</a:t>
            </a:r>
            <a:r>
              <a:rPr sz="1600" dirty="0"/>
              <a:t> variables</a:t>
            </a:r>
            <a:br>
              <a:rPr sz="1600" dirty="0"/>
            </a:br>
            <a:r>
              <a:rPr sz="1600" dirty="0" err="1"/>
              <a:t>Détermine</a:t>
            </a:r>
            <a:r>
              <a:rPr sz="1600" dirty="0"/>
              <a:t> </a:t>
            </a:r>
            <a:r>
              <a:rPr sz="1600" dirty="0" err="1"/>
              <a:t>l'opération</a:t>
            </a:r>
            <a:endParaRPr sz="1600" dirty="0"/>
          </a:p>
        </p:txBody>
      </p:sp>
      <p:sp>
        <p:nvSpPr>
          <p:cNvPr id="11" name="Oval 10"/>
          <p:cNvSpPr/>
          <p:nvPr/>
        </p:nvSpPr>
        <p:spPr>
          <a:xfrm>
            <a:off x="7332874" y="882342"/>
            <a:ext cx="342900" cy="342900"/>
          </a:xfrm>
          <a:prstGeom prst="ellipse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sz="1500" dirty="0"/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4204" y="1382137"/>
            <a:ext cx="1920240" cy="323165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Opérations</a:t>
            </a:r>
            <a:r>
              <a:rPr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 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10368" y="1809087"/>
            <a:ext cx="2845012" cy="1508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6475624" y="1925471"/>
            <a:ext cx="1714500" cy="1100301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Érosion</a:t>
            </a:r>
            <a:r>
              <a:rPr sz="1600" dirty="0"/>
              <a:t> (⊖)</a:t>
            </a:r>
            <a:br>
              <a:rPr sz="1600" dirty="0"/>
            </a:br>
            <a:r>
              <a:rPr sz="1600" dirty="0"/>
              <a:t>Dilatation (⊕)</a:t>
            </a:r>
            <a:br>
              <a:rPr sz="1600" dirty="0"/>
            </a:br>
            <a:r>
              <a:rPr sz="1600" dirty="0" err="1"/>
              <a:t>Combinaisons</a:t>
            </a:r>
            <a:r>
              <a:rPr sz="1600" dirty="0"/>
              <a:t> → Opening/Closing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9353" y="3771900"/>
            <a:ext cx="8367823" cy="1251984"/>
          </a:xfrm>
          <a:prstGeom prst="rect">
            <a:avLst/>
          </a:prstGeom>
          <a:solidFill>
            <a:srgbClr val="8D989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2240280" y="3847162"/>
            <a:ext cx="4526280" cy="423193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Opérations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Morphologiques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8860" y="4251960"/>
            <a:ext cx="4526280" cy="607859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Erosion: A ⊖ B = {z | </a:t>
            </a:r>
            <a:r>
              <a:rPr sz="1600" dirty="0" err="1"/>
              <a:t>Bz</a:t>
            </a:r>
            <a:r>
              <a:rPr sz="1600" dirty="0"/>
              <a:t> ⊆ A}</a:t>
            </a:r>
            <a:br>
              <a:rPr sz="1600" dirty="0"/>
            </a:br>
            <a:r>
              <a:rPr sz="1600" dirty="0"/>
              <a:t>Dilatation: A ⊕ B = {z | </a:t>
            </a:r>
            <a:r>
              <a:rPr sz="1600" dirty="0" err="1"/>
              <a:t>B̂z</a:t>
            </a:r>
            <a:r>
              <a:rPr sz="1600" dirty="0"/>
              <a:t> ∩ A ≠ ∅}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F0F278-6472-6972-AFAA-3A97D1A31905}"/>
              </a:ext>
            </a:extLst>
          </p:cNvPr>
          <p:cNvSpPr txBox="1"/>
          <p:nvPr/>
        </p:nvSpPr>
        <p:spPr>
          <a:xfrm>
            <a:off x="8725296" y="47988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5901" y="274320"/>
            <a:ext cx="4363695" cy="461665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defRPr sz="4000" b="1">
                <a:solidFill>
                  <a:srgbClr val="1E2761"/>
                </a:solidFill>
                <a:latin typeface="Calibri"/>
              </a:defRPr>
            </a:pP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L'Élément</a:t>
            </a: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Structurant</a:t>
            </a: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805" y="890003"/>
            <a:ext cx="3086100" cy="369332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rPr sz="16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Rôle</a:t>
            </a:r>
            <a:r>
              <a:rPr sz="16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et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805" y="1371600"/>
            <a:ext cx="4407195" cy="2085186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L'élément</a:t>
            </a:r>
            <a:r>
              <a:rPr sz="1600" dirty="0"/>
              <a:t> </a:t>
            </a:r>
            <a:r>
              <a:rPr sz="1600" dirty="0" err="1"/>
              <a:t>structurant</a:t>
            </a:r>
            <a:r>
              <a:rPr sz="1600" dirty="0"/>
              <a:t> </a:t>
            </a:r>
            <a:r>
              <a:rPr sz="1600" dirty="0" err="1"/>
              <a:t>est</a:t>
            </a:r>
            <a:r>
              <a:rPr sz="1600" dirty="0"/>
              <a:t> </a:t>
            </a:r>
            <a:r>
              <a:rPr sz="1600" dirty="0" err="1"/>
              <a:t>une</a:t>
            </a:r>
            <a:r>
              <a:rPr sz="1600" dirty="0"/>
              <a:t> </a:t>
            </a:r>
            <a:r>
              <a:rPr sz="1600" dirty="0" err="1"/>
              <a:t>matrice</a:t>
            </a:r>
            <a:r>
              <a:rPr sz="1600" dirty="0"/>
              <a:t> </a:t>
            </a:r>
            <a:r>
              <a:rPr sz="1600" dirty="0" err="1"/>
              <a:t>binaire</a:t>
            </a:r>
            <a:r>
              <a:rPr sz="1600" dirty="0"/>
              <a:t> qui </a:t>
            </a:r>
            <a:r>
              <a:rPr sz="1600" dirty="0" err="1"/>
              <a:t>définit</a:t>
            </a:r>
            <a:r>
              <a:rPr sz="1600" dirty="0"/>
              <a:t> la </a:t>
            </a:r>
            <a:r>
              <a:rPr sz="1600" dirty="0" err="1"/>
              <a:t>forme</a:t>
            </a:r>
            <a:r>
              <a:rPr sz="1600" dirty="0"/>
              <a:t> et la taille du </a:t>
            </a:r>
            <a:r>
              <a:rPr sz="1600" dirty="0" err="1"/>
              <a:t>voisinage</a:t>
            </a:r>
            <a:r>
              <a:rPr sz="1600" dirty="0"/>
              <a:t> </a:t>
            </a:r>
            <a:r>
              <a:rPr sz="1600" dirty="0" err="1"/>
              <a:t>considéré</a:t>
            </a:r>
            <a:r>
              <a:rPr sz="1600" dirty="0"/>
              <a:t> </a:t>
            </a:r>
            <a:r>
              <a:rPr sz="1600" dirty="0" err="1"/>
              <a:t>lors</a:t>
            </a:r>
            <a:r>
              <a:rPr sz="1600" dirty="0"/>
              <a:t> des </a:t>
            </a:r>
            <a:r>
              <a:rPr sz="1600" dirty="0" err="1"/>
              <a:t>opérations</a:t>
            </a:r>
            <a:r>
              <a:rPr sz="1600" dirty="0"/>
              <a:t> </a:t>
            </a:r>
            <a:r>
              <a:rPr sz="1600" dirty="0" err="1"/>
              <a:t>morphologiques</a:t>
            </a:r>
            <a:r>
              <a:rPr sz="1600" dirty="0"/>
              <a:t>.</a:t>
            </a:r>
            <a:br>
              <a:rPr sz="1600" dirty="0"/>
            </a:br>
            <a:br>
              <a:rPr sz="1600" dirty="0"/>
            </a:br>
            <a:r>
              <a:rPr sz="1600" dirty="0"/>
              <a:t>Son choix </a:t>
            </a:r>
            <a:r>
              <a:rPr sz="1600" dirty="0" err="1"/>
              <a:t>détermine</a:t>
            </a:r>
            <a:r>
              <a:rPr sz="1600" dirty="0"/>
              <a:t> :</a:t>
            </a:r>
            <a:br>
              <a:rPr sz="1600" dirty="0"/>
            </a:br>
            <a:r>
              <a:rPr sz="1600" dirty="0"/>
              <a:t>• La nature de la transformation</a:t>
            </a:r>
            <a:br>
              <a:rPr sz="1600" dirty="0"/>
            </a:br>
            <a:r>
              <a:rPr sz="1600" dirty="0"/>
              <a:t>• Les </a:t>
            </a:r>
            <a:r>
              <a:rPr sz="1600" dirty="0" err="1"/>
              <a:t>détails</a:t>
            </a:r>
            <a:r>
              <a:rPr sz="1600" dirty="0"/>
              <a:t> </a:t>
            </a:r>
            <a:r>
              <a:rPr sz="1600" dirty="0" err="1"/>
              <a:t>préservés</a:t>
            </a:r>
            <a:r>
              <a:rPr sz="1600" dirty="0"/>
              <a:t> </a:t>
            </a:r>
            <a:r>
              <a:rPr sz="1600" dirty="0" err="1"/>
              <a:t>ou</a:t>
            </a:r>
            <a:r>
              <a:rPr sz="1600" dirty="0"/>
              <a:t> </a:t>
            </a:r>
            <a:r>
              <a:rPr sz="1600" dirty="0" err="1"/>
              <a:t>supprimés</a:t>
            </a:r>
            <a:br>
              <a:rPr sz="1600" dirty="0"/>
            </a:br>
            <a:r>
              <a:rPr sz="1600" dirty="0"/>
              <a:t>• La </a:t>
            </a:r>
            <a:r>
              <a:rPr sz="1600" dirty="0" err="1"/>
              <a:t>connectivité</a:t>
            </a:r>
            <a:r>
              <a:rPr sz="1600" dirty="0"/>
              <a:t> </a:t>
            </a:r>
            <a:r>
              <a:rPr sz="1600" dirty="0" err="1"/>
              <a:t>analysée</a:t>
            </a:r>
            <a:endParaRPr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4491193" y="921142"/>
            <a:ext cx="2948940" cy="369332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rPr sz="16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Formes</a:t>
            </a:r>
            <a:r>
              <a:rPr sz="16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6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Courantes</a:t>
            </a:r>
            <a:endParaRPr sz="16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709160" y="1371600"/>
            <a:ext cx="2948940" cy="1714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4434841" y="1366242"/>
            <a:ext cx="77952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nsolas"/>
              </a:defRPr>
            </a:pPr>
            <a:r>
              <a:rPr sz="1600" dirty="0" err="1"/>
              <a:t>Carré</a:t>
            </a:r>
            <a:r>
              <a:rPr sz="1600" dirty="0"/>
              <a:t> 3×3:     Croix 3×3:    </a:t>
            </a:r>
            <a:r>
              <a:rPr sz="1600" dirty="0" err="1"/>
              <a:t>Disque</a:t>
            </a:r>
            <a:r>
              <a:rPr sz="1600" dirty="0"/>
              <a:t> 5×5:</a:t>
            </a:r>
            <a:br>
              <a:rPr sz="1600" dirty="0"/>
            </a:br>
            <a:r>
              <a:rPr sz="1600" dirty="0"/>
              <a:t>[1 1 1]        [0 1 0]       [0 1 1 1 0]</a:t>
            </a:r>
            <a:br>
              <a:rPr sz="1600" dirty="0"/>
            </a:br>
            <a:r>
              <a:rPr sz="1600" dirty="0"/>
              <a:t>[1 1 1]        [1 1 1]       [1 1 1 1 1]</a:t>
            </a:r>
            <a:br>
              <a:rPr sz="1600" dirty="0"/>
            </a:br>
            <a:r>
              <a:rPr sz="1600" dirty="0"/>
              <a:t>[1 1 1]        [0 1 0]       [1 1 1 1 1]</a:t>
            </a:r>
            <a:br>
              <a:rPr sz="1600" dirty="0"/>
            </a:br>
            <a:r>
              <a:rPr sz="1600" dirty="0"/>
              <a:t>                             [1 1 1 1 1]</a:t>
            </a:r>
            <a:br>
              <a:rPr sz="1600" dirty="0"/>
            </a:br>
            <a:r>
              <a:rPr sz="1600" dirty="0"/>
              <a:t>                             [0 1 1 1 0]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497" y="3566159"/>
            <a:ext cx="8676167" cy="1181277"/>
          </a:xfrm>
          <a:prstGeom prst="rect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3366799" y="3580310"/>
            <a:ext cx="5897880" cy="423193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2000" dirty="0"/>
              <a:t> Conseil Pratique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5724" y="3943350"/>
            <a:ext cx="7520940" cy="607859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sz="1600" dirty="0" err="1"/>
              <a:t>Commencez</a:t>
            </a:r>
            <a:r>
              <a:rPr sz="1600" dirty="0"/>
              <a:t> avec un SE simple (3×3 </a:t>
            </a:r>
            <a:r>
              <a:rPr sz="1600" dirty="0" err="1"/>
              <a:t>carré</a:t>
            </a:r>
            <a:r>
              <a:rPr sz="1600" dirty="0"/>
              <a:t>) </a:t>
            </a:r>
            <a:r>
              <a:rPr sz="1600" dirty="0" err="1"/>
              <a:t>puis</a:t>
            </a:r>
            <a:r>
              <a:rPr sz="1600" dirty="0"/>
              <a:t> </a:t>
            </a:r>
            <a:r>
              <a:rPr sz="1600" dirty="0" err="1"/>
              <a:t>ajustez</a:t>
            </a:r>
            <a:r>
              <a:rPr sz="1600" dirty="0"/>
              <a:t> </a:t>
            </a:r>
            <a:r>
              <a:rPr sz="1600" dirty="0" err="1"/>
              <a:t>selon</a:t>
            </a:r>
            <a:r>
              <a:rPr sz="1600" dirty="0"/>
              <a:t> les </a:t>
            </a:r>
            <a:r>
              <a:rPr sz="1600" dirty="0" err="1"/>
              <a:t>résultats</a:t>
            </a:r>
            <a:r>
              <a:rPr sz="1600" dirty="0"/>
              <a:t>.</a:t>
            </a:r>
            <a:br>
              <a:rPr sz="1600" dirty="0"/>
            </a:br>
            <a:r>
              <a:rPr sz="1600" dirty="0"/>
              <a:t>Un SE plus grand </a:t>
            </a:r>
            <a:r>
              <a:rPr sz="1600" dirty="0" err="1"/>
              <a:t>accentue</a:t>
            </a:r>
            <a:r>
              <a:rPr sz="1600" dirty="0"/>
              <a:t> </a:t>
            </a:r>
            <a:r>
              <a:rPr sz="1600" dirty="0" err="1"/>
              <a:t>l'effet</a:t>
            </a:r>
            <a:r>
              <a:rPr sz="1600" dirty="0"/>
              <a:t> </a:t>
            </a:r>
            <a:r>
              <a:rPr sz="1600" dirty="0" err="1"/>
              <a:t>mais</a:t>
            </a:r>
            <a:r>
              <a:rPr sz="1600" dirty="0"/>
              <a:t> </a:t>
            </a:r>
            <a:r>
              <a:rPr sz="1600" dirty="0" err="1"/>
              <a:t>peut</a:t>
            </a:r>
            <a:r>
              <a:rPr sz="1600" dirty="0"/>
              <a:t> </a:t>
            </a:r>
            <a:r>
              <a:rPr sz="1600" dirty="0" err="1"/>
              <a:t>perdre</a:t>
            </a:r>
            <a:r>
              <a:rPr sz="1600" dirty="0"/>
              <a:t> des </a:t>
            </a:r>
            <a:r>
              <a:rPr sz="1600" dirty="0" err="1"/>
              <a:t>détails</a:t>
            </a:r>
            <a:r>
              <a:rPr sz="1600" dirty="0"/>
              <a:t> </a:t>
            </a:r>
            <a:r>
              <a:rPr sz="1600" dirty="0" err="1"/>
              <a:t>importants</a:t>
            </a:r>
            <a:r>
              <a:rPr sz="16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EE43EF-5BCB-1075-7830-08E46F3A562D}"/>
              </a:ext>
            </a:extLst>
          </p:cNvPr>
          <p:cNvSpPr txBox="1"/>
          <p:nvPr/>
        </p:nvSpPr>
        <p:spPr>
          <a:xfrm>
            <a:off x="8725296" y="47988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5900" y="274320"/>
            <a:ext cx="4677884" cy="461665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defRPr sz="4000" b="1">
                <a:solidFill>
                  <a:srgbClr val="1E2761"/>
                </a:solidFill>
                <a:latin typeface="Calibri"/>
              </a:defRPr>
            </a:pP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Érosion</a:t>
            </a: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: </a:t>
            </a: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Théorie</a:t>
            </a: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et Principe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94414" y="1028699"/>
            <a:ext cx="4077586" cy="1404729"/>
          </a:xfrm>
          <a:prstGeom prst="rect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719707" y="1131570"/>
            <a:ext cx="3715133" cy="323165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1350" dirty="0" err="1"/>
              <a:t>Définition</a:t>
            </a:r>
            <a:r>
              <a:rPr sz="1350" dirty="0"/>
              <a:t> </a:t>
            </a:r>
            <a:r>
              <a:rPr sz="1350" dirty="0" err="1"/>
              <a:t>Mathématique</a:t>
            </a:r>
            <a:endParaRPr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685416" y="1530890"/>
            <a:ext cx="3715133" cy="715581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sz="975" dirty="0"/>
              <a:t>A ⊖ B = {z | </a:t>
            </a:r>
            <a:r>
              <a:rPr sz="975" dirty="0" err="1"/>
              <a:t>Bz</a:t>
            </a:r>
            <a:r>
              <a:rPr sz="975" dirty="0"/>
              <a:t> ⊆ A}</a:t>
            </a:r>
            <a:br>
              <a:rPr sz="975" dirty="0"/>
            </a:br>
            <a:br>
              <a:rPr sz="975" dirty="0"/>
            </a:br>
            <a:r>
              <a:rPr sz="975" dirty="0" err="1"/>
              <a:t>L'érosion</a:t>
            </a:r>
            <a:r>
              <a:rPr sz="975" dirty="0"/>
              <a:t> de A par B </a:t>
            </a:r>
            <a:r>
              <a:rPr sz="975" dirty="0" err="1"/>
              <a:t>est</a:t>
            </a:r>
            <a:r>
              <a:rPr sz="975" dirty="0"/>
              <a:t> </a:t>
            </a:r>
            <a:r>
              <a:rPr sz="975" dirty="0" err="1"/>
              <a:t>l'ensemble</a:t>
            </a:r>
            <a:r>
              <a:rPr sz="975" dirty="0"/>
              <a:t> des points z </a:t>
            </a:r>
            <a:r>
              <a:rPr sz="975" dirty="0" err="1"/>
              <a:t>où</a:t>
            </a:r>
            <a:r>
              <a:rPr sz="975" dirty="0"/>
              <a:t> B </a:t>
            </a:r>
            <a:r>
              <a:rPr sz="975" dirty="0" err="1"/>
              <a:t>translaté</a:t>
            </a:r>
            <a:r>
              <a:rPr sz="975" dirty="0"/>
              <a:t> par z </a:t>
            </a:r>
            <a:r>
              <a:rPr sz="975" dirty="0" err="1"/>
              <a:t>est</a:t>
            </a:r>
            <a:r>
              <a:rPr sz="975" dirty="0"/>
              <a:t> </a:t>
            </a:r>
            <a:r>
              <a:rPr sz="975" dirty="0" err="1"/>
              <a:t>entièrement</a:t>
            </a:r>
            <a:r>
              <a:rPr sz="975" dirty="0"/>
              <a:t> </a:t>
            </a:r>
            <a:r>
              <a:rPr sz="975" dirty="0" err="1"/>
              <a:t>inclus</a:t>
            </a:r>
            <a:r>
              <a:rPr sz="975" dirty="0"/>
              <a:t> dans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97293" y="1028699"/>
            <a:ext cx="3661291" cy="1402295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5040493" y="1104191"/>
            <a:ext cx="3320706" cy="323165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Effets</a:t>
            </a:r>
            <a:r>
              <a:rPr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sur </a:t>
            </a: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l'Image</a:t>
            </a:r>
            <a:endParaRPr sz="13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40493" y="1371600"/>
            <a:ext cx="3320706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E1E1E"/>
                </a:solidFill>
                <a:latin typeface="Calibri"/>
              </a:defRPr>
            </a:pPr>
            <a:r>
              <a:rPr sz="1200"/>
              <a:t>Réduit la taille des objets</a:t>
            </a:r>
          </a:p>
          <a:p>
            <a:pPr>
              <a:spcBef>
                <a:spcPts val="600"/>
              </a:spcBef>
              <a:defRPr sz="1600">
                <a:solidFill>
                  <a:srgbClr val="1E1E1E"/>
                </a:solidFill>
                <a:latin typeface="Calibri"/>
              </a:defRPr>
            </a:pPr>
            <a:r>
              <a:rPr sz="1200"/>
              <a:t>Supprime les petites structures</a:t>
            </a:r>
          </a:p>
          <a:p>
            <a:pPr>
              <a:spcBef>
                <a:spcPts val="600"/>
              </a:spcBef>
              <a:defRPr sz="1600">
                <a:solidFill>
                  <a:srgbClr val="1E1E1E"/>
                </a:solidFill>
                <a:latin typeface="Calibri"/>
              </a:defRPr>
            </a:pPr>
            <a:r>
              <a:rPr sz="1200"/>
              <a:t>Élargit les trous et espaces</a:t>
            </a:r>
          </a:p>
          <a:p>
            <a:pPr>
              <a:spcBef>
                <a:spcPts val="600"/>
              </a:spcBef>
              <a:defRPr sz="1600">
                <a:solidFill>
                  <a:srgbClr val="1E1E1E"/>
                </a:solidFill>
                <a:latin typeface="Calibri"/>
              </a:defRPr>
            </a:pPr>
            <a:r>
              <a:rPr sz="1200"/>
              <a:t>Sépare les objets connectés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5900" y="2488018"/>
            <a:ext cx="6172200" cy="346249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2000" b="1">
                <a:solidFill>
                  <a:srgbClr val="1E2761"/>
                </a:solidFill>
                <a:latin typeface="Calibri"/>
              </a:defRPr>
            </a:pP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Propriétés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Importantes</a:t>
            </a:r>
            <a:endParaRPr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4414" y="2916522"/>
            <a:ext cx="2890993" cy="480060"/>
          </a:xfrm>
          <a:prstGeom prst="rect">
            <a:avLst/>
          </a:prstGeom>
          <a:solidFill>
            <a:srgbClr val="8D989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722026" y="2899498"/>
            <a:ext cx="2581244" cy="300082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Extensive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26" y="3070948"/>
            <a:ext cx="2581244" cy="26545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975"/>
              <a:t>A ⊖ B ⊆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3299" y="2968078"/>
            <a:ext cx="5510323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L'image</a:t>
            </a:r>
            <a:r>
              <a:rPr sz="1600" dirty="0"/>
              <a:t> </a:t>
            </a:r>
            <a:r>
              <a:rPr sz="1600" dirty="0" err="1"/>
              <a:t>érodée</a:t>
            </a:r>
            <a:r>
              <a:rPr sz="1600" dirty="0"/>
              <a:t> </a:t>
            </a:r>
            <a:r>
              <a:rPr sz="1600" dirty="0" err="1"/>
              <a:t>est</a:t>
            </a:r>
            <a:r>
              <a:rPr sz="1600" dirty="0"/>
              <a:t> </a:t>
            </a:r>
            <a:r>
              <a:rPr sz="1600" dirty="0" err="1"/>
              <a:t>toujours</a:t>
            </a:r>
            <a:r>
              <a:rPr sz="1600" dirty="0"/>
              <a:t> </a:t>
            </a:r>
            <a:r>
              <a:rPr sz="1600" dirty="0" err="1"/>
              <a:t>contenue</a:t>
            </a:r>
            <a:r>
              <a:rPr sz="1600" dirty="0"/>
              <a:t> dans </a:t>
            </a:r>
            <a:r>
              <a:rPr sz="1600" dirty="0" err="1"/>
              <a:t>l'originale</a:t>
            </a:r>
            <a:endParaRPr sz="1600" dirty="0"/>
          </a:p>
        </p:txBody>
      </p:sp>
      <p:sp>
        <p:nvSpPr>
          <p:cNvPr id="14" name="Rectangle 13"/>
          <p:cNvSpPr/>
          <p:nvPr/>
        </p:nvSpPr>
        <p:spPr>
          <a:xfrm>
            <a:off x="494414" y="3478837"/>
            <a:ext cx="2911726" cy="480060"/>
          </a:xfrm>
          <a:prstGeom prst="rect">
            <a:avLst/>
          </a:prstGeom>
          <a:solidFill>
            <a:srgbClr val="8D989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TextBox 14"/>
          <p:cNvSpPr txBox="1"/>
          <p:nvPr/>
        </p:nvSpPr>
        <p:spPr>
          <a:xfrm>
            <a:off x="703515" y="3482428"/>
            <a:ext cx="2599755" cy="300082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Translation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515" y="3653878"/>
            <a:ext cx="2599755" cy="26545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975"/>
              <a:t>(A)z ⊖ B = (A ⊖ B)z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3300" y="3551008"/>
            <a:ext cx="41148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Invariante</a:t>
            </a:r>
            <a:r>
              <a:rPr sz="1600" dirty="0"/>
              <a:t> par translation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4414" y="4044622"/>
            <a:ext cx="2911726" cy="480060"/>
          </a:xfrm>
          <a:prstGeom prst="rect">
            <a:avLst/>
          </a:prstGeom>
          <a:solidFill>
            <a:srgbClr val="8D989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TextBox 18"/>
          <p:cNvSpPr txBox="1"/>
          <p:nvPr/>
        </p:nvSpPr>
        <p:spPr>
          <a:xfrm>
            <a:off x="703515" y="4065358"/>
            <a:ext cx="2599755" cy="300082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515" y="4236808"/>
            <a:ext cx="2599755" cy="26545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975"/>
              <a:t>A ⊖ (B ⊕ C) = (A ⊖ B) ⊖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3300" y="4133937"/>
            <a:ext cx="41148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Associativité</a:t>
            </a:r>
            <a:r>
              <a:rPr sz="1600" dirty="0"/>
              <a:t> avec dilatation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85900" y="4649086"/>
            <a:ext cx="6172200" cy="445770"/>
          </a:xfrm>
          <a:prstGeom prst="rect">
            <a:avLst/>
          </a:prstGeom>
          <a:solidFill>
            <a:srgbClr val="8D989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TextBox 22"/>
          <p:cNvSpPr txBox="1"/>
          <p:nvPr/>
        </p:nvSpPr>
        <p:spPr>
          <a:xfrm>
            <a:off x="1588770" y="4749292"/>
            <a:ext cx="5897880" cy="288541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sz="1125" dirty="0"/>
              <a:t>Applications : </a:t>
            </a:r>
            <a:r>
              <a:rPr sz="1125" dirty="0" err="1"/>
              <a:t>Élimination</a:t>
            </a:r>
            <a:r>
              <a:rPr sz="1125" dirty="0"/>
              <a:t> du bruit, </a:t>
            </a:r>
            <a:r>
              <a:rPr sz="1125" dirty="0" err="1"/>
              <a:t>détection</a:t>
            </a:r>
            <a:r>
              <a:rPr sz="1125" dirty="0"/>
              <a:t> de contours, </a:t>
            </a:r>
            <a:r>
              <a:rPr sz="1125" dirty="0" err="1"/>
              <a:t>séparation</a:t>
            </a:r>
            <a:r>
              <a:rPr sz="1125" dirty="0"/>
              <a:t> </a:t>
            </a:r>
            <a:r>
              <a:rPr sz="1125" dirty="0" err="1"/>
              <a:t>d'objets</a:t>
            </a:r>
            <a:endParaRPr sz="1125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187D3B-8ACF-4B86-3003-502623315DCE}"/>
              </a:ext>
            </a:extLst>
          </p:cNvPr>
          <p:cNvSpPr txBox="1"/>
          <p:nvPr/>
        </p:nvSpPr>
        <p:spPr>
          <a:xfrm>
            <a:off x="8725296" y="47988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5900" y="274320"/>
            <a:ext cx="4387740" cy="461665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defRPr sz="4000" b="1">
                <a:solidFill>
                  <a:srgbClr val="1E2761"/>
                </a:solidFill>
                <a:latin typeface="Calibri"/>
              </a:defRPr>
            </a:pP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Érosion</a:t>
            </a: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: </a:t>
            </a: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Exemples</a:t>
            </a: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Visuels</a:t>
            </a:r>
            <a:endParaRPr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85900" y="1028700"/>
            <a:ext cx="3086100" cy="300082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Exemple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1 :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Érosion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avec SE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Carré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3×3</a:t>
            </a:r>
          </a:p>
        </p:txBody>
      </p:sp>
      <p:sp>
        <p:nvSpPr>
          <p:cNvPr id="4" name="Rectangle 3"/>
          <p:cNvSpPr/>
          <p:nvPr/>
        </p:nvSpPr>
        <p:spPr>
          <a:xfrm>
            <a:off x="1485900" y="1303020"/>
            <a:ext cx="30861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1588770" y="1371600"/>
            <a:ext cx="236475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rPr sz="900"/>
              <a:t>Image Originale:     Image Érodée:</a:t>
            </a:r>
            <a:br>
              <a:rPr sz="900"/>
            </a:br>
            <a:r>
              <a:rPr sz="900"/>
              <a:t>[0 1 1 1 0]      [0 0 0 0 0]</a:t>
            </a:r>
            <a:br>
              <a:rPr sz="900"/>
            </a:br>
            <a:r>
              <a:rPr sz="900"/>
              <a:t>[1 1 1 1 1]  →   [0 1 1 1 0]</a:t>
            </a:r>
            <a:br>
              <a:rPr sz="900"/>
            </a:br>
            <a:r>
              <a:rPr sz="900"/>
              <a:t>[1 1 1 1 1]      [0 1 1 1 0]</a:t>
            </a:r>
            <a:br>
              <a:rPr sz="900"/>
            </a:br>
            <a:r>
              <a:rPr sz="900"/>
              <a:t>[1 1 1 1 1]      [0 0 0 0 0]</a:t>
            </a:r>
            <a:br>
              <a:rPr sz="900"/>
            </a:br>
            <a:r>
              <a:rPr sz="900"/>
              <a:t>[0 1 1 1 0]      [0 0 0 0 0]</a:t>
            </a:r>
          </a:p>
        </p:txBody>
      </p:sp>
      <p:sp>
        <p:nvSpPr>
          <p:cNvPr id="6" name="Rectangle 5"/>
          <p:cNvSpPr/>
          <p:nvPr/>
        </p:nvSpPr>
        <p:spPr>
          <a:xfrm>
            <a:off x="1485900" y="2606040"/>
            <a:ext cx="3086100" cy="411480"/>
          </a:xfrm>
          <a:prstGeom prst="rect">
            <a:avLst/>
          </a:prstGeom>
          <a:solidFill>
            <a:srgbClr val="8D989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1554481" y="2629035"/>
            <a:ext cx="2880360" cy="415498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975" dirty="0"/>
              <a:t>Observation : Les pixels de contour </a:t>
            </a:r>
            <a:r>
              <a:rPr sz="975" dirty="0" err="1"/>
              <a:t>sont</a:t>
            </a:r>
            <a:r>
              <a:rPr sz="975" dirty="0"/>
              <a:t> </a:t>
            </a:r>
            <a:r>
              <a:rPr sz="975" dirty="0" err="1"/>
              <a:t>supprimés</a:t>
            </a:r>
            <a:r>
              <a:rPr sz="975" dirty="0"/>
              <a:t>, </a:t>
            </a:r>
            <a:r>
              <a:rPr sz="975" dirty="0" err="1"/>
              <a:t>l'objet</a:t>
            </a:r>
            <a:r>
              <a:rPr sz="975" dirty="0"/>
              <a:t> </a:t>
            </a:r>
            <a:r>
              <a:rPr sz="975" dirty="0" err="1"/>
              <a:t>rétrécit</a:t>
            </a:r>
            <a:endParaRPr sz="975" dirty="0"/>
          </a:p>
        </p:txBody>
      </p:sp>
      <p:sp>
        <p:nvSpPr>
          <p:cNvPr id="8" name="TextBox 7"/>
          <p:cNvSpPr txBox="1"/>
          <p:nvPr/>
        </p:nvSpPr>
        <p:spPr>
          <a:xfrm>
            <a:off x="4709160" y="1028700"/>
            <a:ext cx="2948940" cy="300082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Exemple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2 :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Érosions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Successives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09160" y="1303020"/>
            <a:ext cx="2948940" cy="1714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4812030" y="1371600"/>
            <a:ext cx="2743200" cy="1465786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975"/>
              <a:t>Itération 1:     Itération 2:     Itération 3:</a:t>
            </a:r>
            <a:br>
              <a:rPr sz="975"/>
            </a:br>
            <a:r>
              <a:rPr sz="975"/>
              <a:t>Objet réduit → Plus petit encore → Peut disparaître</a:t>
            </a:r>
            <a:br>
              <a:rPr sz="975"/>
            </a:br>
            <a:br>
              <a:rPr sz="975"/>
            </a:br>
            <a:r>
              <a:rPr sz="975"/>
              <a:t>Effet cumulatif : Chaque érosion successive réduit </a:t>
            </a:r>
            <a:br>
              <a:rPr sz="975"/>
            </a:br>
            <a:r>
              <a:rPr sz="975"/>
              <a:t>davantage l'objet. Utile pour :</a:t>
            </a:r>
            <a:br>
              <a:rPr sz="975"/>
            </a:br>
            <a:r>
              <a:rPr sz="975"/>
              <a:t>• Compter les couches</a:t>
            </a:r>
            <a:br>
              <a:rPr sz="975"/>
            </a:br>
            <a:r>
              <a:rPr sz="975"/>
              <a:t>• Mesurer l'épaisseur</a:t>
            </a:r>
            <a:br>
              <a:rPr sz="975"/>
            </a:br>
            <a:r>
              <a:rPr sz="975"/>
              <a:t>• Filtrage progressif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5900" y="3154680"/>
            <a:ext cx="6172200" cy="323165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rPr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Pseudo-code </a:t>
            </a: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Simplifié</a:t>
            </a:r>
            <a:endParaRPr sz="13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85900" y="3429000"/>
            <a:ext cx="6172200" cy="1028700"/>
          </a:xfrm>
          <a:prstGeom prst="rect">
            <a:avLst/>
          </a:prstGeom>
          <a:solidFill>
            <a:srgbClr val="8D989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1623060" y="3531870"/>
            <a:ext cx="5897880" cy="865622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sz="975"/>
              <a:t>Pour chaque pixel (x,y) de l'image:</a:t>
            </a:r>
            <a:br>
              <a:rPr sz="975"/>
            </a:br>
            <a:r>
              <a:rPr sz="975"/>
              <a:t>    Si tous les pixels du SE centré en (x,y) sont dans l'objet (valeur 1):</a:t>
            </a:r>
            <a:br>
              <a:rPr sz="975"/>
            </a:br>
            <a:r>
              <a:rPr sz="975"/>
              <a:t>        Résultat(x,y) = 1  # Le pixel survit</a:t>
            </a:r>
            <a:br>
              <a:rPr sz="975"/>
            </a:br>
            <a:r>
              <a:rPr sz="975"/>
              <a:t>    Sinon:</a:t>
            </a:r>
            <a:br>
              <a:rPr sz="975"/>
            </a:br>
            <a:r>
              <a:rPr sz="975"/>
              <a:t>        Résultat(x,y) = 0  # Le pixel est supprimé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487E0A-0A68-AE54-81CB-4881825ABE8B}"/>
              </a:ext>
            </a:extLst>
          </p:cNvPr>
          <p:cNvSpPr txBox="1"/>
          <p:nvPr/>
        </p:nvSpPr>
        <p:spPr>
          <a:xfrm>
            <a:off x="8725296" y="47988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5900" y="97847"/>
            <a:ext cx="5069016" cy="461665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defRPr sz="4000" b="1">
                <a:solidFill>
                  <a:srgbClr val="1E2761"/>
                </a:solidFill>
                <a:latin typeface="Calibri"/>
              </a:defRPr>
            </a:pP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Dilatation : </a:t>
            </a: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Théorie</a:t>
            </a: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et Principe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293" y="628092"/>
            <a:ext cx="4247707" cy="1223568"/>
          </a:xfrm>
          <a:prstGeom prst="rect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422912" y="633015"/>
            <a:ext cx="2811779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1600" dirty="0" err="1"/>
              <a:t>Définition</a:t>
            </a:r>
            <a:r>
              <a:rPr sz="1600" dirty="0"/>
              <a:t> </a:t>
            </a:r>
            <a:r>
              <a:rPr sz="1600" dirty="0" err="1"/>
              <a:t>Mathématique</a:t>
            </a:r>
            <a:endParaRPr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372139" y="1023216"/>
            <a:ext cx="4686033" cy="76174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sz="1400" b="1" dirty="0"/>
              <a:t>A ⊕ B = {z | </a:t>
            </a:r>
            <a:r>
              <a:rPr sz="1400" b="1" dirty="0" err="1"/>
              <a:t>B̂z</a:t>
            </a:r>
            <a:r>
              <a:rPr sz="1400" b="1" dirty="0"/>
              <a:t> ∩ A ≠ ∅}</a:t>
            </a:r>
            <a:br>
              <a:rPr sz="1400" dirty="0"/>
            </a:br>
            <a:r>
              <a:rPr sz="1400" dirty="0"/>
              <a:t>La dilatation de A par B </a:t>
            </a:r>
            <a:r>
              <a:rPr sz="1400" dirty="0" err="1"/>
              <a:t>est</a:t>
            </a:r>
            <a:r>
              <a:rPr sz="1400" dirty="0"/>
              <a:t> </a:t>
            </a:r>
            <a:r>
              <a:rPr sz="1400" dirty="0" err="1"/>
              <a:t>l'ensemble</a:t>
            </a:r>
            <a:r>
              <a:rPr sz="1400" dirty="0"/>
              <a:t> des points z </a:t>
            </a:r>
            <a:r>
              <a:rPr sz="1400" dirty="0" err="1"/>
              <a:t>où</a:t>
            </a:r>
            <a:r>
              <a:rPr sz="1400" dirty="0"/>
              <a:t> B </a:t>
            </a:r>
            <a:r>
              <a:rPr sz="1400" dirty="0" err="1"/>
              <a:t>réfléchi</a:t>
            </a:r>
            <a:r>
              <a:rPr sz="1400" dirty="0"/>
              <a:t> et </a:t>
            </a:r>
            <a:r>
              <a:rPr sz="1400" dirty="0" err="1"/>
              <a:t>translaté</a:t>
            </a:r>
            <a:r>
              <a:rPr sz="1400" dirty="0"/>
              <a:t> </a:t>
            </a:r>
            <a:r>
              <a:rPr sz="1400" dirty="0" err="1"/>
              <a:t>intersecte</a:t>
            </a:r>
            <a:r>
              <a:rPr sz="1400" dirty="0"/>
              <a:t>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59" y="633015"/>
            <a:ext cx="4190291" cy="1218645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4812030" y="630827"/>
            <a:ext cx="2674620" cy="323165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Effets</a:t>
            </a:r>
            <a:r>
              <a:rPr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sur </a:t>
            </a: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l'Image</a:t>
            </a:r>
            <a:endParaRPr sz="13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12029" y="956180"/>
            <a:ext cx="4224579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E1E1E"/>
                </a:solidFill>
                <a:latin typeface="Calibri"/>
              </a:defRPr>
            </a:pPr>
            <a:r>
              <a:rPr lang="en-US" sz="1600" dirty="0"/>
              <a:t>* </a:t>
            </a:r>
            <a:r>
              <a:rPr sz="1600" dirty="0" err="1"/>
              <a:t>Agrandit</a:t>
            </a:r>
            <a:r>
              <a:rPr sz="1600" dirty="0"/>
              <a:t> les </a:t>
            </a:r>
            <a:r>
              <a:rPr sz="1600" dirty="0" err="1"/>
              <a:t>objets</a:t>
            </a:r>
            <a:r>
              <a:rPr lang="en-US" sz="1600" dirty="0"/>
              <a:t>      * </a:t>
            </a:r>
            <a:r>
              <a:rPr sz="1600" dirty="0"/>
              <a:t>Comble les petits </a:t>
            </a:r>
            <a:r>
              <a:rPr sz="1600" dirty="0" err="1"/>
              <a:t>trous</a:t>
            </a:r>
            <a:endParaRPr sz="1600" dirty="0"/>
          </a:p>
          <a:p>
            <a:pPr>
              <a:spcBef>
                <a:spcPts val="600"/>
              </a:spcBef>
              <a:defRPr sz="1600">
                <a:solidFill>
                  <a:srgbClr val="1E1E1E"/>
                </a:solidFill>
                <a:latin typeface="Calibri"/>
              </a:defRPr>
            </a:pPr>
            <a:r>
              <a:rPr lang="en-US" sz="1600" dirty="0"/>
              <a:t>* </a:t>
            </a:r>
            <a:r>
              <a:rPr sz="1600" dirty="0" err="1"/>
              <a:t>Réduit</a:t>
            </a:r>
            <a:r>
              <a:rPr sz="1600" dirty="0"/>
              <a:t> les </a:t>
            </a:r>
            <a:r>
              <a:rPr sz="1600" dirty="0" err="1"/>
              <a:t>espaces</a:t>
            </a:r>
            <a:r>
              <a:rPr sz="1600" dirty="0"/>
              <a:t> entre </a:t>
            </a:r>
            <a:r>
              <a:rPr sz="1600" dirty="0" err="1"/>
              <a:t>objets</a:t>
            </a:r>
            <a:r>
              <a:rPr lang="en-US" sz="1600" dirty="0"/>
              <a:t>        </a:t>
            </a:r>
            <a:br>
              <a:rPr lang="en-US" sz="1600" dirty="0"/>
            </a:br>
            <a:r>
              <a:rPr lang="en-US" sz="1600" dirty="0"/>
              <a:t>* </a:t>
            </a:r>
            <a:r>
              <a:rPr sz="1600" dirty="0" err="1"/>
              <a:t>Fusionne</a:t>
            </a:r>
            <a:r>
              <a:rPr sz="1600" dirty="0"/>
              <a:t> les </a:t>
            </a:r>
            <a:r>
              <a:rPr sz="1600" dirty="0" err="1"/>
              <a:t>objets</a:t>
            </a:r>
            <a:r>
              <a:rPr sz="1600" dirty="0"/>
              <a:t> </a:t>
            </a:r>
            <a:r>
              <a:rPr sz="1600" dirty="0" err="1"/>
              <a:t>proches</a:t>
            </a:r>
            <a:endParaRPr sz="1600" dirty="0"/>
          </a:p>
        </p:txBody>
      </p:sp>
      <p:sp>
        <p:nvSpPr>
          <p:cNvPr id="9" name="Rectangle 8"/>
          <p:cNvSpPr/>
          <p:nvPr/>
        </p:nvSpPr>
        <p:spPr>
          <a:xfrm>
            <a:off x="324293" y="2057400"/>
            <a:ext cx="8575157" cy="847668"/>
          </a:xfrm>
          <a:prstGeom prst="rect">
            <a:avLst/>
          </a:prstGeom>
          <a:solidFill>
            <a:srgbClr val="8D989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3391786" y="2014575"/>
            <a:ext cx="5897880" cy="323165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rPr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Relation de </a:t>
            </a: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Dualité</a:t>
            </a:r>
            <a:r>
              <a:rPr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avec </a:t>
            </a: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l'Érosion</a:t>
            </a:r>
            <a:endParaRPr sz="13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23060" y="2267820"/>
            <a:ext cx="5897880" cy="607859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ctr">
              <a:defRPr sz="1400" b="0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(A ⊕ B)ᶜ = Aᶜ ⊖ B̂        et        (A ⊖ B)ᶜ = Aᶜ ⊕ B̂</a:t>
            </a:r>
            <a:br>
              <a:rPr sz="1600" dirty="0"/>
            </a:br>
            <a:r>
              <a:rPr sz="1600" dirty="0"/>
              <a:t>La dilatation du </a:t>
            </a:r>
            <a:r>
              <a:rPr sz="1600" dirty="0" err="1"/>
              <a:t>complémentaire</a:t>
            </a:r>
            <a:r>
              <a:rPr sz="1600" dirty="0"/>
              <a:t> </a:t>
            </a:r>
            <a:r>
              <a:rPr sz="1600" dirty="0" err="1"/>
              <a:t>équivaut</a:t>
            </a:r>
            <a:r>
              <a:rPr sz="1600" dirty="0"/>
              <a:t> à </a:t>
            </a:r>
            <a:r>
              <a:rPr sz="1600" dirty="0" err="1"/>
              <a:t>l'érosion</a:t>
            </a:r>
            <a:r>
              <a:rPr sz="1600" dirty="0"/>
              <a:t>, et </a:t>
            </a:r>
            <a:r>
              <a:rPr sz="1600" dirty="0" err="1"/>
              <a:t>inversement</a:t>
            </a:r>
            <a:endParaRPr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3341282" y="2835623"/>
            <a:ext cx="6172200" cy="346249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2000" b="1">
                <a:solidFill>
                  <a:srgbClr val="1E2761"/>
                </a:solidFill>
                <a:latin typeface="Calibri"/>
              </a:defRPr>
            </a:pP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Propriétés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Clés</a:t>
            </a:r>
            <a:endParaRPr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4293" y="3430848"/>
            <a:ext cx="4110547" cy="37719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251459" y="3001125"/>
            <a:ext cx="1789991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Commutativité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09027" y="3415325"/>
            <a:ext cx="27432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A ⊕ B = B ⊕ 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12881" y="3409175"/>
            <a:ext cx="4190290" cy="37719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4712880" y="3002919"/>
            <a:ext cx="1719817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Associativité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34670" y="3374620"/>
            <a:ext cx="27432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(A ⊕ B) ⊕ C = A ⊕ (B ⊕ 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292" y="4128769"/>
            <a:ext cx="4110547" cy="37719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TextBox 19"/>
          <p:cNvSpPr txBox="1"/>
          <p:nvPr/>
        </p:nvSpPr>
        <p:spPr>
          <a:xfrm>
            <a:off x="251460" y="3777534"/>
            <a:ext cx="123444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Translation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3965" y="4111325"/>
            <a:ext cx="27432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(A)z ⊕ B = (A ⊕ B)z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2250" y="4128769"/>
            <a:ext cx="4190290" cy="37719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TextBox 22"/>
          <p:cNvSpPr txBox="1"/>
          <p:nvPr/>
        </p:nvSpPr>
        <p:spPr>
          <a:xfrm>
            <a:off x="4712881" y="3767132"/>
            <a:ext cx="123444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Croissance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79589" y="4110398"/>
            <a:ext cx="27432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A ⊆ A ⊕ 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293" y="4651010"/>
            <a:ext cx="8575157" cy="445770"/>
          </a:xfrm>
          <a:prstGeom prst="rect">
            <a:avLst/>
          </a:prstGeom>
          <a:solidFill>
            <a:srgbClr val="8D989F"/>
          </a:solidFill>
          <a:ln>
            <a:solidFill>
              <a:srgbClr val="8D9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" name="TextBox 25"/>
          <p:cNvSpPr txBox="1"/>
          <p:nvPr/>
        </p:nvSpPr>
        <p:spPr>
          <a:xfrm>
            <a:off x="514851" y="4703761"/>
            <a:ext cx="8194039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Applications : </a:t>
            </a:r>
            <a:r>
              <a:rPr sz="1600" dirty="0" err="1"/>
              <a:t>Comblement</a:t>
            </a:r>
            <a:r>
              <a:rPr sz="1600" dirty="0"/>
              <a:t> de </a:t>
            </a:r>
            <a:r>
              <a:rPr sz="1600" dirty="0" err="1"/>
              <a:t>trous</a:t>
            </a:r>
            <a:r>
              <a:rPr sz="1600" dirty="0"/>
              <a:t>, </a:t>
            </a:r>
            <a:r>
              <a:rPr sz="1600" dirty="0" err="1"/>
              <a:t>connexion</a:t>
            </a:r>
            <a:r>
              <a:rPr sz="1600" dirty="0"/>
              <a:t> </a:t>
            </a:r>
            <a:r>
              <a:rPr sz="1600" dirty="0" err="1"/>
              <a:t>d'objets</a:t>
            </a:r>
            <a:r>
              <a:rPr sz="1600" dirty="0"/>
              <a:t>, </a:t>
            </a:r>
            <a:r>
              <a:rPr sz="1600" dirty="0" err="1"/>
              <a:t>renforcement</a:t>
            </a:r>
            <a:r>
              <a:rPr sz="1600" dirty="0"/>
              <a:t> des structures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B9DD90-97F2-C684-6C7A-1903E3EDFC0A}"/>
              </a:ext>
            </a:extLst>
          </p:cNvPr>
          <p:cNvSpPr txBox="1"/>
          <p:nvPr/>
        </p:nvSpPr>
        <p:spPr>
          <a:xfrm>
            <a:off x="8725296" y="47988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9063" y="100812"/>
            <a:ext cx="4778872" cy="461665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defRPr sz="4000" b="1">
                <a:solidFill>
                  <a:srgbClr val="1E2761"/>
                </a:solidFill>
                <a:latin typeface="Calibri"/>
              </a:defRPr>
            </a:pP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Dilatation : </a:t>
            </a: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Exemples</a:t>
            </a: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Visuels</a:t>
            </a:r>
            <a:endParaRPr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7828" y="619138"/>
            <a:ext cx="4778872" cy="423193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Exemple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1 : Dilatation avec SE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Carré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3×3</a:t>
            </a:r>
          </a:p>
        </p:txBody>
      </p:sp>
      <p:sp>
        <p:nvSpPr>
          <p:cNvPr id="4" name="Rectangle 3"/>
          <p:cNvSpPr/>
          <p:nvPr/>
        </p:nvSpPr>
        <p:spPr>
          <a:xfrm>
            <a:off x="1485900" y="1303020"/>
            <a:ext cx="30861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633700" y="1025507"/>
            <a:ext cx="420597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rPr sz="1400" dirty="0"/>
              <a:t>Image </a:t>
            </a:r>
            <a:r>
              <a:rPr sz="1400" dirty="0" err="1"/>
              <a:t>Originale</a:t>
            </a:r>
            <a:r>
              <a:rPr sz="1400" dirty="0"/>
              <a:t>:     Image </a:t>
            </a:r>
            <a:r>
              <a:rPr sz="1400" dirty="0" err="1"/>
              <a:t>Dilatée</a:t>
            </a:r>
            <a:r>
              <a:rPr sz="1400" dirty="0"/>
              <a:t>:</a:t>
            </a:r>
            <a:endParaRPr lang="en-US" sz="1400" dirty="0"/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br>
              <a:rPr sz="1400" dirty="0"/>
            </a:br>
            <a:r>
              <a:rPr sz="1400" dirty="0"/>
              <a:t>[0 0 0 0 0]      </a:t>
            </a:r>
            <a:r>
              <a:rPr lang="en-US" sz="1400" dirty="0"/>
              <a:t>     </a:t>
            </a:r>
            <a:r>
              <a:rPr sz="1400" dirty="0"/>
              <a:t>[0 1 1 1 0]</a:t>
            </a:r>
            <a:br>
              <a:rPr sz="1400" dirty="0"/>
            </a:br>
            <a:r>
              <a:rPr sz="1400" dirty="0"/>
              <a:t>[0 1 1 1 0]  →  </a:t>
            </a:r>
            <a:r>
              <a:rPr lang="en-US" sz="1400" dirty="0"/>
              <a:t>   </a:t>
            </a:r>
            <a:r>
              <a:rPr sz="1400" dirty="0"/>
              <a:t> </a:t>
            </a:r>
            <a:r>
              <a:rPr lang="en-US" sz="1400" dirty="0"/>
              <a:t>  </a:t>
            </a:r>
            <a:r>
              <a:rPr sz="1400" dirty="0"/>
              <a:t>[1 1 1 1 1]</a:t>
            </a:r>
            <a:br>
              <a:rPr sz="1400" dirty="0"/>
            </a:br>
            <a:r>
              <a:rPr sz="1400" dirty="0"/>
              <a:t>[0 1 1 1 0]     </a:t>
            </a:r>
            <a:r>
              <a:rPr lang="en-US" sz="1400" dirty="0"/>
              <a:t>     </a:t>
            </a:r>
            <a:r>
              <a:rPr sz="1400" dirty="0"/>
              <a:t> [1 1 1 1 1]</a:t>
            </a:r>
            <a:br>
              <a:rPr sz="1400" dirty="0"/>
            </a:br>
            <a:r>
              <a:rPr sz="1400" dirty="0"/>
              <a:t>[0 0 0 0 0]     </a:t>
            </a:r>
            <a:r>
              <a:rPr lang="en-US" sz="1400" dirty="0"/>
              <a:t>     </a:t>
            </a:r>
            <a:r>
              <a:rPr sz="1400" dirty="0"/>
              <a:t> [1 1 1 1 1]</a:t>
            </a:r>
            <a:br>
              <a:rPr sz="1400" dirty="0"/>
            </a:br>
            <a:r>
              <a:rPr sz="1400" dirty="0"/>
              <a:t>[0 0 0 0 0]     </a:t>
            </a:r>
            <a:r>
              <a:rPr lang="en-US" sz="1400" dirty="0"/>
              <a:t>     </a:t>
            </a:r>
            <a:r>
              <a:rPr sz="1400" dirty="0"/>
              <a:t> [0 1 1 1 0]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828" y="2633721"/>
            <a:ext cx="4516311" cy="801988"/>
          </a:xfrm>
          <a:prstGeom prst="rect">
            <a:avLst/>
          </a:prstGeom>
          <a:solidFill>
            <a:srgbClr val="ECF0F1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436401" y="2661500"/>
            <a:ext cx="4907457" cy="607859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 b="1" dirty="0"/>
              <a:t>Observation :</a:t>
            </a:r>
            <a:endParaRPr lang="en-US" sz="1600" b="1" dirty="0"/>
          </a:p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 </a:t>
            </a:r>
            <a:r>
              <a:rPr sz="1600" dirty="0" err="1"/>
              <a:t>L'objet</a:t>
            </a:r>
            <a:r>
              <a:rPr sz="1600" dirty="0"/>
              <a:t> </a:t>
            </a:r>
            <a:r>
              <a:rPr sz="1600" dirty="0" err="1"/>
              <a:t>s'agrandit</a:t>
            </a:r>
            <a:r>
              <a:rPr sz="1600" dirty="0"/>
              <a:t> dans </a:t>
            </a:r>
            <a:r>
              <a:rPr sz="1600" dirty="0" err="1"/>
              <a:t>toutes</a:t>
            </a:r>
            <a:r>
              <a:rPr sz="1600" dirty="0"/>
              <a:t> les directions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07348" y="646917"/>
            <a:ext cx="4778871" cy="423193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Exemple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2 :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Comblement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d'Espaces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07348" y="1112581"/>
            <a:ext cx="3462493" cy="1714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5257666" y="1142582"/>
            <a:ext cx="3737478" cy="233140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Avant:           </a:t>
            </a:r>
            <a:r>
              <a:rPr lang="en-US" sz="1600" dirty="0"/>
              <a:t>      </a:t>
            </a:r>
            <a:r>
              <a:rPr sz="1600" dirty="0"/>
              <a:t>Après:</a:t>
            </a:r>
            <a:br>
              <a:rPr sz="1600" dirty="0"/>
            </a:br>
            <a:r>
              <a:rPr sz="1600" dirty="0"/>
              <a:t>[1 1 0 1 1]  →  </a:t>
            </a:r>
            <a:r>
              <a:rPr lang="en-US" sz="1600" dirty="0"/>
              <a:t>   </a:t>
            </a:r>
            <a:r>
              <a:rPr sz="1600" dirty="0"/>
              <a:t>[1 1 1 1 1]</a:t>
            </a:r>
            <a:br>
              <a:rPr sz="1600" dirty="0"/>
            </a:br>
            <a:r>
              <a:rPr sz="1600" dirty="0"/>
              <a:t>[1 1 0 1 1]    </a:t>
            </a:r>
            <a:r>
              <a:rPr lang="en-US" sz="1600" dirty="0"/>
              <a:t>      </a:t>
            </a:r>
            <a:r>
              <a:rPr sz="1600" dirty="0"/>
              <a:t> [1 1 1 1 1]</a:t>
            </a:r>
            <a:br>
              <a:rPr sz="1600" dirty="0"/>
            </a:br>
            <a:br>
              <a:rPr sz="1600" dirty="0"/>
            </a:br>
            <a:r>
              <a:rPr sz="1600" dirty="0"/>
              <a:t>Cas </a:t>
            </a:r>
            <a:r>
              <a:rPr sz="1600" dirty="0" err="1"/>
              <a:t>d'usage</a:t>
            </a:r>
            <a:r>
              <a:rPr sz="1600" dirty="0"/>
              <a:t> pratique :</a:t>
            </a:r>
            <a:br>
              <a:rPr sz="1600" dirty="0"/>
            </a:br>
            <a:r>
              <a:rPr sz="1600" dirty="0"/>
              <a:t>• Reconnexion de </a:t>
            </a:r>
            <a:r>
              <a:rPr sz="1600" dirty="0" err="1"/>
              <a:t>lignes</a:t>
            </a:r>
            <a:r>
              <a:rPr sz="1600" dirty="0"/>
              <a:t> </a:t>
            </a:r>
            <a:r>
              <a:rPr sz="1600" dirty="0" err="1"/>
              <a:t>brisées</a:t>
            </a:r>
            <a:br>
              <a:rPr sz="1600" dirty="0"/>
            </a:br>
            <a:r>
              <a:rPr sz="1600" dirty="0"/>
              <a:t>• Fermeture de contours </a:t>
            </a:r>
            <a:r>
              <a:rPr sz="1600" dirty="0" err="1"/>
              <a:t>ouverts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Réparation</a:t>
            </a:r>
            <a:r>
              <a:rPr sz="1600" dirty="0"/>
              <a:t> de </a:t>
            </a:r>
            <a:r>
              <a:rPr sz="1600" dirty="0" err="1"/>
              <a:t>caractères</a:t>
            </a:r>
            <a:r>
              <a:rPr sz="1600" dirty="0"/>
              <a:t> </a:t>
            </a:r>
            <a:r>
              <a:rPr sz="1600" dirty="0" err="1"/>
              <a:t>dégradés</a:t>
            </a:r>
            <a:br>
              <a:rPr sz="1600" dirty="0"/>
            </a:br>
            <a:r>
              <a:rPr sz="1600" dirty="0"/>
              <a:t>• Reconstruction de structures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828" y="3278065"/>
            <a:ext cx="6172200" cy="423193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Pseudo-code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Simplifié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7828" y="3709034"/>
            <a:ext cx="8142014" cy="1376916"/>
          </a:xfrm>
          <a:prstGeom prst="rect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665101" y="3703850"/>
            <a:ext cx="6526796" cy="1346522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Pour </a:t>
            </a:r>
            <a:r>
              <a:rPr sz="1600" dirty="0" err="1"/>
              <a:t>chaque</a:t>
            </a:r>
            <a:r>
              <a:rPr sz="1600" dirty="0"/>
              <a:t> pixel (</a:t>
            </a:r>
            <a:r>
              <a:rPr sz="1600" dirty="0" err="1"/>
              <a:t>x,y</a:t>
            </a:r>
            <a:r>
              <a:rPr sz="1600" dirty="0"/>
              <a:t>) de </a:t>
            </a:r>
            <a:r>
              <a:rPr sz="1600" dirty="0" err="1"/>
              <a:t>l'image</a:t>
            </a:r>
            <a:r>
              <a:rPr sz="1600" dirty="0"/>
              <a:t>:</a:t>
            </a:r>
            <a:br>
              <a:rPr sz="1600" dirty="0"/>
            </a:br>
            <a:r>
              <a:rPr sz="1600" dirty="0"/>
              <a:t>    Si au </a:t>
            </a:r>
            <a:r>
              <a:rPr sz="1600" dirty="0" err="1"/>
              <a:t>moins</a:t>
            </a:r>
            <a:r>
              <a:rPr sz="1600" dirty="0"/>
              <a:t> un pixel du SE </a:t>
            </a:r>
            <a:r>
              <a:rPr sz="1600" dirty="0" err="1"/>
              <a:t>centré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(</a:t>
            </a:r>
            <a:r>
              <a:rPr sz="1600" dirty="0" err="1"/>
              <a:t>x,y</a:t>
            </a:r>
            <a:r>
              <a:rPr sz="1600" dirty="0"/>
              <a:t>) </a:t>
            </a:r>
            <a:r>
              <a:rPr sz="1600" dirty="0" err="1"/>
              <a:t>est</a:t>
            </a:r>
            <a:r>
              <a:rPr sz="1600" dirty="0"/>
              <a:t> dans </a:t>
            </a:r>
            <a:r>
              <a:rPr sz="1600" dirty="0" err="1"/>
              <a:t>l'objet</a:t>
            </a:r>
            <a:r>
              <a:rPr sz="1600" dirty="0"/>
              <a:t> (</a:t>
            </a:r>
            <a:r>
              <a:rPr sz="1600" dirty="0" err="1"/>
              <a:t>valeur</a:t>
            </a:r>
            <a:r>
              <a:rPr sz="1600" dirty="0"/>
              <a:t> 1):</a:t>
            </a:r>
            <a:br>
              <a:rPr sz="1600" dirty="0"/>
            </a:br>
            <a:r>
              <a:rPr sz="1600" dirty="0"/>
              <a:t>        </a:t>
            </a:r>
            <a:r>
              <a:rPr sz="1600" dirty="0" err="1"/>
              <a:t>Résultat</a:t>
            </a:r>
            <a:r>
              <a:rPr sz="1600" dirty="0"/>
              <a:t>(</a:t>
            </a:r>
            <a:r>
              <a:rPr sz="1600" dirty="0" err="1"/>
              <a:t>x,y</a:t>
            </a:r>
            <a:r>
              <a:rPr sz="1600" dirty="0"/>
              <a:t>) = 1  # Le pixel </a:t>
            </a:r>
            <a:r>
              <a:rPr sz="1600" dirty="0" err="1"/>
              <a:t>devient</a:t>
            </a:r>
            <a:r>
              <a:rPr sz="1600" dirty="0"/>
              <a:t> </a:t>
            </a:r>
            <a:r>
              <a:rPr sz="1600" dirty="0" err="1"/>
              <a:t>objet</a:t>
            </a:r>
            <a:br>
              <a:rPr sz="1600" dirty="0"/>
            </a:br>
            <a:r>
              <a:rPr sz="1600" dirty="0"/>
              <a:t>    </a:t>
            </a:r>
            <a:r>
              <a:rPr sz="1600" dirty="0" err="1"/>
              <a:t>Sinon</a:t>
            </a:r>
            <a:r>
              <a:rPr sz="1600" dirty="0"/>
              <a:t>:</a:t>
            </a:r>
            <a:br>
              <a:rPr sz="1600" dirty="0"/>
            </a:br>
            <a:r>
              <a:rPr sz="1600" dirty="0"/>
              <a:t>        </a:t>
            </a:r>
            <a:r>
              <a:rPr sz="1600" dirty="0" err="1"/>
              <a:t>Résultat</a:t>
            </a:r>
            <a:r>
              <a:rPr sz="1600" dirty="0"/>
              <a:t>(</a:t>
            </a:r>
            <a:r>
              <a:rPr sz="1600" dirty="0" err="1"/>
              <a:t>x,y</a:t>
            </a:r>
            <a:r>
              <a:rPr sz="1600" dirty="0"/>
              <a:t>) = 0  # Le pixel </a:t>
            </a:r>
            <a:r>
              <a:rPr sz="1600" dirty="0" err="1"/>
              <a:t>reste</a:t>
            </a:r>
            <a:r>
              <a:rPr sz="1600" dirty="0"/>
              <a:t> fond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F63E5D-2405-2932-C6D2-EF9317B5DF70}"/>
              </a:ext>
            </a:extLst>
          </p:cNvPr>
          <p:cNvSpPr txBox="1"/>
          <p:nvPr/>
        </p:nvSpPr>
        <p:spPr>
          <a:xfrm>
            <a:off x="8725296" y="47988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5900" y="26094"/>
            <a:ext cx="5724644" cy="461665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defRPr sz="4000" b="1">
                <a:solidFill>
                  <a:srgbClr val="1E2761"/>
                </a:solidFill>
                <a:latin typeface="Calibri"/>
              </a:defRPr>
            </a:pP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Ouverture</a:t>
            </a: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: </a:t>
            </a: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Érosion</a:t>
            </a: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puis</a:t>
            </a: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Dilatation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7668" y="508485"/>
            <a:ext cx="8330518" cy="1068855"/>
          </a:xfrm>
          <a:prstGeom prst="rect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730855" y="414246"/>
            <a:ext cx="5897880" cy="423193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Définition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0058" y="881860"/>
            <a:ext cx="7613709" cy="607859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sz="1600" b="1" dirty="0"/>
              <a:t>A ○ B = (A ⊖ B) ⊕ B</a:t>
            </a:r>
            <a:br>
              <a:rPr sz="1600" b="1" dirty="0"/>
            </a:br>
            <a:r>
              <a:rPr sz="1600" b="1" dirty="0" err="1"/>
              <a:t>L'ouverture</a:t>
            </a:r>
            <a:r>
              <a:rPr sz="1600" b="1" dirty="0"/>
              <a:t> </a:t>
            </a:r>
            <a:r>
              <a:rPr sz="1600" b="1" dirty="0" err="1"/>
              <a:t>consiste</a:t>
            </a:r>
            <a:r>
              <a:rPr sz="1600" b="1" dirty="0"/>
              <a:t> à </a:t>
            </a:r>
            <a:r>
              <a:rPr sz="1600" b="1" dirty="0" err="1"/>
              <a:t>éroder</a:t>
            </a:r>
            <a:r>
              <a:rPr sz="1600" b="1" dirty="0"/>
              <a:t> </a:t>
            </a:r>
            <a:r>
              <a:rPr sz="1600" b="1" dirty="0" err="1"/>
              <a:t>puis</a:t>
            </a:r>
            <a:r>
              <a:rPr sz="1600" b="1" dirty="0"/>
              <a:t> dilater avec le </a:t>
            </a:r>
            <a:r>
              <a:rPr sz="1600" b="1" dirty="0" err="1"/>
              <a:t>même</a:t>
            </a:r>
            <a:r>
              <a:rPr sz="1600" b="1" dirty="0"/>
              <a:t> </a:t>
            </a:r>
            <a:r>
              <a:rPr sz="1600" b="1" dirty="0" err="1"/>
              <a:t>élément</a:t>
            </a:r>
            <a:r>
              <a:rPr sz="1600" b="1" dirty="0"/>
              <a:t> </a:t>
            </a:r>
            <a:r>
              <a:rPr sz="1600" b="1" dirty="0" err="1"/>
              <a:t>structurant</a:t>
            </a:r>
            <a:endParaRPr sz="1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43910" y="1550916"/>
            <a:ext cx="3086100" cy="323165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Effets</a:t>
            </a:r>
            <a:r>
              <a:rPr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Principaux</a:t>
            </a:r>
            <a:endParaRPr sz="13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3910" y="1886469"/>
            <a:ext cx="399093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Élimine</a:t>
            </a:r>
            <a:r>
              <a:rPr sz="1600" dirty="0"/>
              <a:t> les petits </a:t>
            </a:r>
            <a:r>
              <a:rPr sz="1600" dirty="0" err="1"/>
              <a:t>objets</a:t>
            </a:r>
            <a:endParaRPr sz="1600" dirty="0"/>
          </a:p>
          <a:p>
            <a:pPr>
              <a:spcBef>
                <a:spcPts val="600"/>
              </a:spcBef>
              <a:defRPr sz="160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Lisse</a:t>
            </a:r>
            <a:r>
              <a:rPr sz="1600" dirty="0"/>
              <a:t> les contours </a:t>
            </a:r>
            <a:r>
              <a:rPr sz="1600" dirty="0" err="1"/>
              <a:t>externes</a:t>
            </a:r>
            <a:endParaRPr sz="1600" dirty="0"/>
          </a:p>
          <a:p>
            <a:pPr>
              <a:spcBef>
                <a:spcPts val="600"/>
              </a:spcBef>
              <a:defRPr sz="160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Sépare</a:t>
            </a:r>
            <a:r>
              <a:rPr sz="1600" dirty="0"/>
              <a:t> les </a:t>
            </a:r>
            <a:r>
              <a:rPr sz="1600" dirty="0" err="1"/>
              <a:t>objets</a:t>
            </a:r>
            <a:r>
              <a:rPr sz="1600" dirty="0"/>
              <a:t> </a:t>
            </a:r>
            <a:r>
              <a:rPr sz="1600" dirty="0" err="1"/>
              <a:t>connectés</a:t>
            </a:r>
            <a:r>
              <a:rPr sz="1600" dirty="0"/>
              <a:t> </a:t>
            </a:r>
            <a:r>
              <a:rPr sz="1600" dirty="0" err="1"/>
              <a:t>finement</a:t>
            </a:r>
            <a:endParaRPr sz="1600" dirty="0"/>
          </a:p>
          <a:p>
            <a:pPr>
              <a:spcBef>
                <a:spcPts val="600"/>
              </a:spcBef>
              <a:defRPr sz="160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Préserve</a:t>
            </a:r>
            <a:r>
              <a:rPr sz="1600" dirty="0"/>
              <a:t> la </a:t>
            </a:r>
            <a:r>
              <a:rPr sz="1600" dirty="0" err="1"/>
              <a:t>forme</a:t>
            </a:r>
            <a:r>
              <a:rPr sz="1600" dirty="0"/>
              <a:t> des grands </a:t>
            </a:r>
            <a:r>
              <a:rPr sz="1600" dirty="0" err="1"/>
              <a:t>objets</a:t>
            </a:r>
            <a:endParaRPr sz="1600" dirty="0"/>
          </a:p>
          <a:p>
            <a:pPr>
              <a:spcBef>
                <a:spcPts val="600"/>
              </a:spcBef>
              <a:defRPr sz="160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Supprime</a:t>
            </a:r>
            <a:r>
              <a:rPr sz="1600" dirty="0"/>
              <a:t> les </a:t>
            </a:r>
            <a:r>
              <a:rPr sz="1600" dirty="0" err="1"/>
              <a:t>protubérances</a:t>
            </a:r>
            <a:r>
              <a:rPr sz="1600" dirty="0"/>
              <a:t> fines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574846"/>
            <a:ext cx="2948940" cy="323165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Processus</a:t>
            </a:r>
            <a:r>
              <a:rPr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Visuel</a:t>
            </a:r>
            <a:endParaRPr sz="13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09160" y="1927307"/>
            <a:ext cx="4169026" cy="1754708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4812029" y="1847657"/>
            <a:ext cx="4236277" cy="1838965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Original → </a:t>
            </a:r>
            <a:r>
              <a:rPr sz="1600" dirty="0" err="1"/>
              <a:t>Érosion</a:t>
            </a:r>
            <a:r>
              <a:rPr sz="1600" dirty="0"/>
              <a:t> → Dilatation</a:t>
            </a:r>
            <a:br>
              <a:rPr sz="1600" dirty="0"/>
            </a:br>
            <a:r>
              <a:rPr sz="1600" dirty="0"/>
              <a:t>   ●●●      </a:t>
            </a:r>
            <a:r>
              <a:rPr lang="en-US" sz="1600" dirty="0"/>
              <a:t>      </a:t>
            </a:r>
            <a:r>
              <a:rPr sz="1600" dirty="0"/>
              <a:t> ●    </a:t>
            </a:r>
            <a:r>
              <a:rPr lang="en-US" sz="1600" dirty="0"/>
              <a:t>             </a:t>
            </a:r>
            <a:r>
              <a:rPr sz="1600" dirty="0"/>
              <a:t>     ●●</a:t>
            </a:r>
            <a:br>
              <a:rPr sz="1600" dirty="0"/>
            </a:br>
            <a:r>
              <a:rPr sz="1600" dirty="0"/>
              <a:t>  ●●●●●  →   ●   </a:t>
            </a:r>
            <a:r>
              <a:rPr lang="en-US" sz="1600" dirty="0"/>
              <a:t>    </a:t>
            </a:r>
            <a:r>
              <a:rPr sz="1600" dirty="0"/>
              <a:t>→     </a:t>
            </a:r>
            <a:r>
              <a:rPr lang="en-US" sz="1600" dirty="0"/>
              <a:t>    </a:t>
            </a:r>
            <a:r>
              <a:rPr sz="1600" dirty="0"/>
              <a:t>●●●</a:t>
            </a:r>
            <a:br>
              <a:rPr sz="1600" dirty="0"/>
            </a:br>
            <a:r>
              <a:rPr sz="1600" dirty="0"/>
              <a:t>   ●●●       </a:t>
            </a:r>
            <a:r>
              <a:rPr lang="en-US" sz="1600" dirty="0"/>
              <a:t>      </a:t>
            </a:r>
            <a:r>
              <a:rPr sz="1600" dirty="0"/>
              <a:t>●         </a:t>
            </a:r>
            <a:r>
              <a:rPr lang="en-US" sz="1600" dirty="0"/>
              <a:t>             </a:t>
            </a:r>
            <a:r>
              <a:rPr sz="1600" dirty="0"/>
              <a:t>●●</a:t>
            </a:r>
            <a:br>
              <a:rPr sz="1600" dirty="0"/>
            </a:br>
            <a:r>
              <a:rPr sz="1600" dirty="0"/>
              <a:t>1. </a:t>
            </a:r>
            <a:r>
              <a:rPr sz="1600" dirty="0" err="1"/>
              <a:t>Érosion</a:t>
            </a:r>
            <a:r>
              <a:rPr sz="1600" dirty="0"/>
              <a:t> </a:t>
            </a:r>
            <a:r>
              <a:rPr sz="1600" dirty="0" err="1"/>
              <a:t>supprime</a:t>
            </a:r>
            <a:r>
              <a:rPr sz="1600" dirty="0"/>
              <a:t> petites parties</a:t>
            </a:r>
            <a:br>
              <a:rPr sz="1600" dirty="0"/>
            </a:br>
            <a:r>
              <a:rPr sz="1600" dirty="0"/>
              <a:t>2. Dilatation </a:t>
            </a:r>
            <a:r>
              <a:rPr sz="1600" dirty="0" err="1"/>
              <a:t>restaure</a:t>
            </a:r>
            <a:r>
              <a:rPr sz="1600" dirty="0"/>
              <a:t> la taille</a:t>
            </a:r>
            <a:br>
              <a:rPr sz="1600" dirty="0"/>
            </a:br>
            <a:r>
              <a:rPr sz="1600" dirty="0"/>
              <a:t>3. </a:t>
            </a:r>
            <a:r>
              <a:rPr sz="1600" dirty="0" err="1"/>
              <a:t>Résultat</a:t>
            </a:r>
            <a:r>
              <a:rPr sz="1600" dirty="0"/>
              <a:t> : </a:t>
            </a:r>
            <a:r>
              <a:rPr sz="1600" dirty="0" err="1"/>
              <a:t>Forme</a:t>
            </a:r>
            <a:r>
              <a:rPr sz="1600" dirty="0"/>
              <a:t> </a:t>
            </a:r>
            <a:r>
              <a:rPr sz="1600" dirty="0" err="1"/>
              <a:t>lissée</a:t>
            </a:r>
            <a:endParaRPr sz="1600" dirty="0"/>
          </a:p>
        </p:txBody>
      </p:sp>
      <p:sp>
        <p:nvSpPr>
          <p:cNvPr id="11" name="Rectangle 10"/>
          <p:cNvSpPr/>
          <p:nvPr/>
        </p:nvSpPr>
        <p:spPr>
          <a:xfrm>
            <a:off x="443911" y="3820811"/>
            <a:ext cx="4166171" cy="1282818"/>
          </a:xfrm>
          <a:prstGeom prst="rect">
            <a:avLst/>
          </a:prstGeom>
          <a:solidFill>
            <a:srgbClr val="ECF0F1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547668" y="3820811"/>
            <a:ext cx="3784304" cy="323165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Propriétés</a:t>
            </a:r>
            <a:r>
              <a:rPr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Mathématiques</a:t>
            </a:r>
            <a:endParaRPr sz="13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8304" y="4242929"/>
            <a:ext cx="5011102" cy="730969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dirty="0"/>
              <a:t>• Anti-extensive: A ○ B ⊆ A</a:t>
            </a:r>
            <a:br>
              <a:rPr dirty="0"/>
            </a:br>
            <a:r>
              <a:rPr dirty="0"/>
              <a:t>• </a:t>
            </a:r>
            <a:r>
              <a:rPr dirty="0" err="1"/>
              <a:t>Croissante</a:t>
            </a:r>
            <a:r>
              <a:rPr dirty="0"/>
              <a:t>: A ⊆ C ⇒ A○B ⊆ C○B</a:t>
            </a:r>
            <a:br>
              <a:rPr dirty="0"/>
            </a:br>
            <a:r>
              <a:rPr dirty="0"/>
              <a:t>• </a:t>
            </a:r>
            <a:r>
              <a:rPr dirty="0" err="1"/>
              <a:t>Idempotente</a:t>
            </a:r>
            <a:r>
              <a:rPr dirty="0"/>
              <a:t>: (A○B)○B = A○B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3820811"/>
            <a:ext cx="4169026" cy="1282818"/>
          </a:xfrm>
          <a:prstGeom prst="rect">
            <a:avLst/>
          </a:prstGeom>
          <a:solidFill>
            <a:srgbClr val="ECF0F1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TextBox 14"/>
          <p:cNvSpPr txBox="1"/>
          <p:nvPr/>
        </p:nvSpPr>
        <p:spPr>
          <a:xfrm>
            <a:off x="4709159" y="3811746"/>
            <a:ext cx="3949135" cy="323165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Applications Pratiques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2029" y="4191026"/>
            <a:ext cx="3864210" cy="854080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Filtrage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du bruit "poivre"</a:t>
            </a:r>
            <a:b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Séparation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d'objets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agglutinés</a:t>
            </a:r>
            <a:b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Extraction de structures majeures</a:t>
            </a:r>
            <a:b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Prétraitement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pour segmentation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F965A2-2A8C-7AA2-2730-D9C58CA47F62}"/>
              </a:ext>
            </a:extLst>
          </p:cNvPr>
          <p:cNvSpPr txBox="1"/>
          <p:nvPr/>
        </p:nvSpPr>
        <p:spPr>
          <a:xfrm>
            <a:off x="8725296" y="47988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5900" y="8427"/>
            <a:ext cx="5758308" cy="461665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defRPr sz="4000" b="1">
                <a:solidFill>
                  <a:srgbClr val="1E2761"/>
                </a:solidFill>
                <a:latin typeface="Calibri"/>
              </a:defRPr>
            </a:pP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Fermeture : Dilatation </a:t>
            </a: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puis</a:t>
            </a: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Érosion</a:t>
            </a:r>
            <a:endParaRPr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85900" y="552893"/>
            <a:ext cx="6172200" cy="1024447"/>
          </a:xfrm>
          <a:prstGeom prst="rect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1623060" y="506987"/>
            <a:ext cx="5897880" cy="346249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sz="1500" dirty="0" err="1"/>
              <a:t>Définition</a:t>
            </a:r>
            <a:endParaRPr sz="1500" dirty="0"/>
          </a:p>
        </p:txBody>
      </p:sp>
      <p:sp>
        <p:nvSpPr>
          <p:cNvPr id="5" name="TextBox 4"/>
          <p:cNvSpPr txBox="1"/>
          <p:nvPr/>
        </p:nvSpPr>
        <p:spPr>
          <a:xfrm>
            <a:off x="1623060" y="811373"/>
            <a:ext cx="5897880" cy="669414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sz="1200" b="1" dirty="0"/>
              <a:t>A • B = (A ⊕ B) ⊖ B</a:t>
            </a:r>
            <a:br>
              <a:rPr sz="1200" b="1" dirty="0"/>
            </a:br>
            <a:br>
              <a:rPr sz="1200" b="1" dirty="0"/>
            </a:br>
            <a:r>
              <a:rPr sz="1200" b="1" dirty="0"/>
              <a:t>La fermeture </a:t>
            </a:r>
            <a:r>
              <a:rPr sz="1200" b="1" dirty="0" err="1"/>
              <a:t>consiste</a:t>
            </a:r>
            <a:r>
              <a:rPr sz="1200" b="1" dirty="0"/>
              <a:t> à dilater </a:t>
            </a:r>
            <a:r>
              <a:rPr sz="1200" b="1" dirty="0" err="1"/>
              <a:t>puis</a:t>
            </a:r>
            <a:r>
              <a:rPr sz="1200" b="1" dirty="0"/>
              <a:t> </a:t>
            </a:r>
            <a:r>
              <a:rPr sz="1200" b="1" dirty="0" err="1"/>
              <a:t>éroder</a:t>
            </a:r>
            <a:r>
              <a:rPr sz="1200" b="1" dirty="0"/>
              <a:t> avec le </a:t>
            </a:r>
            <a:r>
              <a:rPr sz="1200" b="1" dirty="0" err="1"/>
              <a:t>même</a:t>
            </a:r>
            <a:r>
              <a:rPr sz="1200" b="1" dirty="0"/>
              <a:t> </a:t>
            </a:r>
            <a:r>
              <a:rPr sz="1200" b="1" dirty="0" err="1"/>
              <a:t>élément</a:t>
            </a:r>
            <a:r>
              <a:rPr sz="1200" b="1" dirty="0"/>
              <a:t> </a:t>
            </a:r>
            <a:r>
              <a:rPr sz="1200" b="1" dirty="0" err="1"/>
              <a:t>structurant</a:t>
            </a:r>
            <a:endParaRPr sz="12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485900" y="1571787"/>
            <a:ext cx="3086100" cy="323165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Effets</a:t>
            </a:r>
            <a:r>
              <a:rPr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Principaux</a:t>
            </a:r>
            <a:endParaRPr sz="13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85900" y="2057401"/>
            <a:ext cx="30861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E1E1E"/>
                </a:solidFill>
                <a:latin typeface="Calibri"/>
              </a:defRPr>
            </a:pPr>
            <a:r>
              <a:rPr sz="1200" dirty="0"/>
              <a:t>Comble les petits </a:t>
            </a:r>
            <a:r>
              <a:rPr sz="1200" dirty="0" err="1"/>
              <a:t>trous</a:t>
            </a:r>
            <a:endParaRPr sz="1200" dirty="0"/>
          </a:p>
          <a:p>
            <a:pPr>
              <a:spcBef>
                <a:spcPts val="600"/>
              </a:spcBef>
              <a:defRPr sz="1600">
                <a:solidFill>
                  <a:srgbClr val="1E1E1E"/>
                </a:solidFill>
                <a:latin typeface="Calibri"/>
              </a:defRPr>
            </a:pPr>
            <a:r>
              <a:rPr sz="1200" dirty="0" err="1"/>
              <a:t>Lisse</a:t>
            </a:r>
            <a:r>
              <a:rPr sz="1200" dirty="0"/>
              <a:t> les contours internes</a:t>
            </a:r>
          </a:p>
          <a:p>
            <a:pPr>
              <a:spcBef>
                <a:spcPts val="600"/>
              </a:spcBef>
              <a:defRPr sz="1600">
                <a:solidFill>
                  <a:srgbClr val="1E1E1E"/>
                </a:solidFill>
                <a:latin typeface="Calibri"/>
              </a:defRPr>
            </a:pPr>
            <a:r>
              <a:rPr sz="1200" dirty="0" err="1"/>
              <a:t>Connecte</a:t>
            </a:r>
            <a:r>
              <a:rPr sz="1200" dirty="0"/>
              <a:t> les </a:t>
            </a:r>
            <a:r>
              <a:rPr sz="1200" dirty="0" err="1"/>
              <a:t>objets</a:t>
            </a:r>
            <a:r>
              <a:rPr sz="1200" dirty="0"/>
              <a:t> </a:t>
            </a:r>
            <a:r>
              <a:rPr sz="1200" dirty="0" err="1"/>
              <a:t>proches</a:t>
            </a:r>
            <a:endParaRPr sz="1200" dirty="0"/>
          </a:p>
          <a:p>
            <a:pPr>
              <a:spcBef>
                <a:spcPts val="600"/>
              </a:spcBef>
              <a:defRPr sz="1600">
                <a:solidFill>
                  <a:srgbClr val="1E1E1E"/>
                </a:solidFill>
                <a:latin typeface="Calibri"/>
              </a:defRPr>
            </a:pPr>
            <a:r>
              <a:rPr sz="1200" dirty="0" err="1"/>
              <a:t>Préserve</a:t>
            </a:r>
            <a:r>
              <a:rPr sz="1200" dirty="0"/>
              <a:t> la </a:t>
            </a:r>
            <a:r>
              <a:rPr sz="1200" dirty="0" err="1"/>
              <a:t>forme</a:t>
            </a:r>
            <a:r>
              <a:rPr sz="1200" dirty="0"/>
              <a:t> </a:t>
            </a:r>
            <a:r>
              <a:rPr sz="1200" dirty="0" err="1"/>
              <a:t>globale</a:t>
            </a:r>
            <a:endParaRPr sz="1200" dirty="0"/>
          </a:p>
          <a:p>
            <a:pPr>
              <a:spcBef>
                <a:spcPts val="600"/>
              </a:spcBef>
              <a:defRPr sz="1600">
                <a:solidFill>
                  <a:srgbClr val="1E1E1E"/>
                </a:solidFill>
                <a:latin typeface="Calibri"/>
              </a:defRPr>
            </a:pPr>
            <a:r>
              <a:rPr sz="1200" dirty="0" err="1"/>
              <a:t>Élimine</a:t>
            </a:r>
            <a:r>
              <a:rPr sz="1200" dirty="0"/>
              <a:t> les </a:t>
            </a:r>
            <a:r>
              <a:rPr sz="1200" dirty="0" err="1"/>
              <a:t>cavités</a:t>
            </a:r>
            <a:r>
              <a:rPr sz="1200" dirty="0"/>
              <a:t> </a:t>
            </a:r>
            <a:r>
              <a:rPr sz="1200" dirty="0" err="1"/>
              <a:t>étroites</a:t>
            </a:r>
            <a:endParaRPr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4709160" y="1572664"/>
            <a:ext cx="2948940" cy="323165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Processus</a:t>
            </a:r>
            <a:r>
              <a:rPr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Visuel</a:t>
            </a:r>
            <a:endParaRPr sz="13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09160" y="1894953"/>
            <a:ext cx="2948940" cy="1807562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4777740" y="1911395"/>
            <a:ext cx="2743200" cy="1838965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alibri"/>
              </a:defRPr>
            </a:pPr>
            <a:r>
              <a:rPr sz="1400" dirty="0"/>
              <a:t>Original → Dilatation → </a:t>
            </a:r>
            <a:r>
              <a:rPr sz="1400" dirty="0" err="1"/>
              <a:t>Érosion</a:t>
            </a:r>
            <a:br>
              <a:rPr sz="1400" dirty="0"/>
            </a:br>
            <a:r>
              <a:rPr sz="1400" dirty="0"/>
              <a:t>  ● ●      ●●●●●       ●●●●</a:t>
            </a:r>
            <a:br>
              <a:rPr sz="1400" dirty="0"/>
            </a:br>
            <a:r>
              <a:rPr sz="1400" dirty="0"/>
              <a:t>  ● ●   →  ●●●●●   →   ●●●●</a:t>
            </a:r>
            <a:br>
              <a:rPr sz="1400" dirty="0"/>
            </a:br>
            <a:r>
              <a:rPr sz="1400" dirty="0"/>
              <a:t>  ●●●      ●●●●●       ●●●●</a:t>
            </a:r>
            <a:br>
              <a:rPr sz="1400" dirty="0"/>
            </a:br>
            <a:br>
              <a:rPr sz="1400" dirty="0"/>
            </a:br>
            <a:r>
              <a:rPr sz="1400" dirty="0"/>
              <a:t>1. Dilatation comble les </a:t>
            </a:r>
            <a:r>
              <a:rPr sz="1400" dirty="0" err="1"/>
              <a:t>trous</a:t>
            </a:r>
            <a:br>
              <a:rPr sz="1400" dirty="0"/>
            </a:br>
            <a:r>
              <a:rPr sz="1400" dirty="0"/>
              <a:t>2. </a:t>
            </a:r>
            <a:r>
              <a:rPr sz="1400" dirty="0" err="1"/>
              <a:t>Érosion</a:t>
            </a:r>
            <a:r>
              <a:rPr sz="1400" dirty="0"/>
              <a:t> </a:t>
            </a:r>
            <a:r>
              <a:rPr sz="1400" dirty="0" err="1"/>
              <a:t>restaure</a:t>
            </a:r>
            <a:r>
              <a:rPr sz="1400" dirty="0"/>
              <a:t> la taille</a:t>
            </a:r>
            <a:br>
              <a:rPr sz="1400" dirty="0"/>
            </a:br>
            <a:r>
              <a:rPr sz="1400" dirty="0"/>
              <a:t>3. </a:t>
            </a:r>
            <a:r>
              <a:rPr sz="1400" dirty="0" err="1"/>
              <a:t>Résultat</a:t>
            </a:r>
            <a:r>
              <a:rPr sz="1400" dirty="0"/>
              <a:t> : </a:t>
            </a:r>
            <a:r>
              <a:rPr sz="1400" dirty="0" err="1"/>
              <a:t>Trous</a:t>
            </a:r>
            <a:r>
              <a:rPr sz="1400" dirty="0"/>
              <a:t> </a:t>
            </a:r>
            <a:r>
              <a:rPr sz="1400" dirty="0" err="1"/>
              <a:t>remplis</a:t>
            </a:r>
            <a:endParaRPr sz="1400" dirty="0"/>
          </a:p>
        </p:txBody>
      </p:sp>
      <p:sp>
        <p:nvSpPr>
          <p:cNvPr id="11" name="Rectangle 10"/>
          <p:cNvSpPr/>
          <p:nvPr/>
        </p:nvSpPr>
        <p:spPr>
          <a:xfrm>
            <a:off x="1438053" y="3815494"/>
            <a:ext cx="3086100" cy="1250920"/>
          </a:xfrm>
          <a:prstGeom prst="rect">
            <a:avLst/>
          </a:prstGeom>
          <a:solidFill>
            <a:srgbClr val="8D989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1485900" y="3852827"/>
            <a:ext cx="2880360" cy="323165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Propriétés</a:t>
            </a:r>
            <a:r>
              <a:rPr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Mathématiques</a:t>
            </a:r>
            <a:endParaRPr sz="13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40923" y="4213325"/>
            <a:ext cx="2880360" cy="76174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400" dirty="0"/>
              <a:t>• Extensive: A ⊆ A • B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Croissante</a:t>
            </a:r>
            <a:r>
              <a:rPr sz="1400" dirty="0"/>
              <a:t>: A ⊆ C ⇒ A•B ⊆ C•B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Idempotente</a:t>
            </a:r>
            <a:r>
              <a:rPr sz="1400" dirty="0"/>
              <a:t>: (A•B)•B = A•B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3815494"/>
            <a:ext cx="2948940" cy="1250920"/>
          </a:xfrm>
          <a:prstGeom prst="rect">
            <a:avLst/>
          </a:prstGeom>
          <a:solidFill>
            <a:srgbClr val="8D989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TextBox 14"/>
          <p:cNvSpPr txBox="1"/>
          <p:nvPr/>
        </p:nvSpPr>
        <p:spPr>
          <a:xfrm>
            <a:off x="4777740" y="3831336"/>
            <a:ext cx="2743200" cy="323165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sz="1350" dirty="0"/>
              <a:t>Applications Pratiques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7740" y="4089223"/>
            <a:ext cx="2743200" cy="977191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• </a:t>
            </a:r>
            <a:r>
              <a:rPr sz="1400" dirty="0" err="1"/>
              <a:t>Filtrage</a:t>
            </a:r>
            <a:r>
              <a:rPr sz="1400" dirty="0"/>
              <a:t> du bruit "</a:t>
            </a:r>
            <a:r>
              <a:rPr sz="1400" dirty="0" err="1"/>
              <a:t>sel</a:t>
            </a:r>
            <a:r>
              <a:rPr sz="1400" dirty="0"/>
              <a:t>"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Remplissage</a:t>
            </a:r>
            <a:r>
              <a:rPr sz="1400" dirty="0"/>
              <a:t> de </a:t>
            </a:r>
            <a:r>
              <a:rPr sz="1400" dirty="0" err="1"/>
              <a:t>discontinuités</a:t>
            </a:r>
            <a:br>
              <a:rPr sz="1400" dirty="0"/>
            </a:br>
            <a:r>
              <a:rPr sz="1400" dirty="0"/>
              <a:t>• Fusion de </a:t>
            </a:r>
            <a:r>
              <a:rPr sz="1400" dirty="0" err="1"/>
              <a:t>régions</a:t>
            </a:r>
            <a:r>
              <a:rPr sz="1400" dirty="0"/>
              <a:t> </a:t>
            </a:r>
            <a:r>
              <a:rPr sz="1400" dirty="0" err="1"/>
              <a:t>similaires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Amélioration</a:t>
            </a:r>
            <a:r>
              <a:rPr sz="1400" dirty="0"/>
              <a:t> de contours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CB6C29-1E07-7FED-3BF2-D8B137300FEB}"/>
              </a:ext>
            </a:extLst>
          </p:cNvPr>
          <p:cNvSpPr txBox="1"/>
          <p:nvPr/>
        </p:nvSpPr>
        <p:spPr>
          <a:xfrm>
            <a:off x="8725296" y="47988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5900" y="274320"/>
            <a:ext cx="5844870" cy="461665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defRPr sz="4000" b="1">
                <a:solidFill>
                  <a:srgbClr val="1E2761"/>
                </a:solidFill>
                <a:latin typeface="Calibri"/>
              </a:defRPr>
            </a:pP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Tableau </a:t>
            </a: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Comparatif</a:t>
            </a: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des </a:t>
            </a: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Opérations</a:t>
            </a:r>
            <a:endParaRPr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8977" y="1097279"/>
            <a:ext cx="1669311" cy="295422"/>
          </a:xfrm>
          <a:prstGeom prst="rect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1350" dirty="0" err="1"/>
              <a:t>Opération</a:t>
            </a:r>
            <a:endParaRPr sz="1350" dirty="0"/>
          </a:p>
        </p:txBody>
      </p:sp>
      <p:sp>
        <p:nvSpPr>
          <p:cNvPr id="4" name="Rectangle 3"/>
          <p:cNvSpPr/>
          <p:nvPr/>
        </p:nvSpPr>
        <p:spPr>
          <a:xfrm>
            <a:off x="2031350" y="1097279"/>
            <a:ext cx="1800176" cy="295422"/>
          </a:xfrm>
          <a:prstGeom prst="rect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1350" dirty="0"/>
              <a:t>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86201" y="1097279"/>
            <a:ext cx="1613521" cy="295422"/>
          </a:xfrm>
          <a:prstGeom prst="rect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1350"/>
              <a:t>Relation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546969" y="1097279"/>
            <a:ext cx="1565682" cy="295422"/>
          </a:xfrm>
          <a:prstGeom prst="rect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1350" dirty="0" err="1"/>
              <a:t>Avantage</a:t>
            </a:r>
            <a:endParaRPr sz="1350" dirty="0"/>
          </a:p>
        </p:txBody>
      </p:sp>
      <p:sp>
        <p:nvSpPr>
          <p:cNvPr id="7" name="Rectangle 6"/>
          <p:cNvSpPr/>
          <p:nvPr/>
        </p:nvSpPr>
        <p:spPr>
          <a:xfrm>
            <a:off x="7159897" y="1097279"/>
            <a:ext cx="1702339" cy="295422"/>
          </a:xfrm>
          <a:prstGeom prst="rect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1350" dirty="0"/>
              <a:t>Limitation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485900" y="1440180"/>
            <a:ext cx="1097280" cy="44577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444992" y="1447314"/>
            <a:ext cx="2924933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Érosion</a:t>
            </a:r>
            <a:endParaRPr sz="1600" dirty="0"/>
          </a:p>
        </p:txBody>
      </p:sp>
      <p:sp>
        <p:nvSpPr>
          <p:cNvPr id="10" name="Rectangle 9"/>
          <p:cNvSpPr/>
          <p:nvPr/>
        </p:nvSpPr>
        <p:spPr>
          <a:xfrm>
            <a:off x="2720340" y="1440180"/>
            <a:ext cx="1028700" cy="44577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2097259" y="1457852"/>
            <a:ext cx="2482476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Réduction</a:t>
            </a:r>
            <a:endParaRPr sz="1600" dirty="0"/>
          </a:p>
        </p:txBody>
      </p:sp>
      <p:sp>
        <p:nvSpPr>
          <p:cNvPr id="12" name="Rectangle 11"/>
          <p:cNvSpPr/>
          <p:nvPr/>
        </p:nvSpPr>
        <p:spPr>
          <a:xfrm>
            <a:off x="3886200" y="1440180"/>
            <a:ext cx="1028700" cy="44577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4118024" y="1503821"/>
            <a:ext cx="1794549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A ⊖ B ⊆ 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94750" y="1429958"/>
            <a:ext cx="1097280" cy="44577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TextBox 14"/>
          <p:cNvSpPr txBox="1"/>
          <p:nvPr/>
        </p:nvSpPr>
        <p:spPr>
          <a:xfrm>
            <a:off x="5499722" y="1518644"/>
            <a:ext cx="2080829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Élimination</a:t>
            </a:r>
            <a:r>
              <a:rPr sz="1600" dirty="0"/>
              <a:t> bruit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8063" y="1392701"/>
            <a:ext cx="1371600" cy="44577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7242894" y="1521162"/>
            <a:ext cx="1515858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Perte</a:t>
            </a:r>
            <a:r>
              <a:rPr sz="1600" dirty="0"/>
              <a:t> </a:t>
            </a:r>
            <a:r>
              <a:rPr sz="1600" dirty="0" err="1"/>
              <a:t>détails</a:t>
            </a:r>
            <a:endParaRPr sz="1600" dirty="0"/>
          </a:p>
        </p:txBody>
      </p:sp>
      <p:sp>
        <p:nvSpPr>
          <p:cNvPr id="18" name="Rectangle 17"/>
          <p:cNvSpPr/>
          <p:nvPr/>
        </p:nvSpPr>
        <p:spPr>
          <a:xfrm>
            <a:off x="318977" y="1885949"/>
            <a:ext cx="1669311" cy="480061"/>
          </a:xfrm>
          <a:prstGeom prst="rect">
            <a:avLst/>
          </a:prstGeom>
          <a:solidFill>
            <a:srgbClr val="ECF0F1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TextBox 18"/>
          <p:cNvSpPr txBox="1"/>
          <p:nvPr/>
        </p:nvSpPr>
        <p:spPr>
          <a:xfrm>
            <a:off x="437783" y="1901504"/>
            <a:ext cx="2924933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Dilatation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91956" y="1885949"/>
            <a:ext cx="1714407" cy="480061"/>
          </a:xfrm>
          <a:prstGeom prst="rect">
            <a:avLst/>
          </a:prstGeom>
          <a:solidFill>
            <a:srgbClr val="ECF0F1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TextBox 20"/>
          <p:cNvSpPr txBox="1"/>
          <p:nvPr/>
        </p:nvSpPr>
        <p:spPr>
          <a:xfrm>
            <a:off x="2140885" y="1930605"/>
            <a:ext cx="10287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Expansion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03081" y="1885949"/>
            <a:ext cx="1619769" cy="480061"/>
          </a:xfrm>
          <a:prstGeom prst="rect">
            <a:avLst/>
          </a:prstGeom>
          <a:solidFill>
            <a:srgbClr val="ECF0F1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TextBox 22"/>
          <p:cNvSpPr txBox="1"/>
          <p:nvPr/>
        </p:nvSpPr>
        <p:spPr>
          <a:xfrm>
            <a:off x="4156985" y="1932442"/>
            <a:ext cx="1735007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A ⊆ A ⊕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94216" y="1885949"/>
            <a:ext cx="1518434" cy="480061"/>
          </a:xfrm>
          <a:prstGeom prst="rect">
            <a:avLst/>
          </a:prstGeom>
          <a:solidFill>
            <a:srgbClr val="ECF0F1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TextBox 24"/>
          <p:cNvSpPr txBox="1"/>
          <p:nvPr/>
        </p:nvSpPr>
        <p:spPr>
          <a:xfrm>
            <a:off x="5499722" y="1955249"/>
            <a:ext cx="2041495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Comblement</a:t>
            </a:r>
            <a:r>
              <a:rPr sz="1600" dirty="0"/>
              <a:t> </a:t>
            </a:r>
            <a:r>
              <a:rPr sz="1600" dirty="0" err="1"/>
              <a:t>trous</a:t>
            </a:r>
            <a:endParaRPr sz="1600" dirty="0"/>
          </a:p>
        </p:txBody>
      </p:sp>
      <p:sp>
        <p:nvSpPr>
          <p:cNvPr id="26" name="Rectangle 25"/>
          <p:cNvSpPr/>
          <p:nvPr/>
        </p:nvSpPr>
        <p:spPr>
          <a:xfrm>
            <a:off x="7167323" y="1885949"/>
            <a:ext cx="1694913" cy="480061"/>
          </a:xfrm>
          <a:prstGeom prst="rect">
            <a:avLst/>
          </a:prstGeom>
          <a:solidFill>
            <a:srgbClr val="ECF0F1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" name="TextBox 26"/>
          <p:cNvSpPr txBox="1"/>
          <p:nvPr/>
        </p:nvSpPr>
        <p:spPr>
          <a:xfrm>
            <a:off x="7248747" y="1988819"/>
            <a:ext cx="1475174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Fusion </a:t>
            </a:r>
            <a:r>
              <a:rPr sz="1600" dirty="0" err="1"/>
              <a:t>objets</a:t>
            </a:r>
            <a:endParaRPr sz="1600" dirty="0"/>
          </a:p>
        </p:txBody>
      </p:sp>
      <p:sp>
        <p:nvSpPr>
          <p:cNvPr id="28" name="Rectangle 27"/>
          <p:cNvSpPr/>
          <p:nvPr/>
        </p:nvSpPr>
        <p:spPr>
          <a:xfrm>
            <a:off x="2206990" y="2477161"/>
            <a:ext cx="1097280" cy="44577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9" name="TextBox 28"/>
          <p:cNvSpPr txBox="1"/>
          <p:nvPr/>
        </p:nvSpPr>
        <p:spPr>
          <a:xfrm>
            <a:off x="399266" y="2381338"/>
            <a:ext cx="1385052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Ouverture</a:t>
            </a:r>
            <a:endParaRPr sz="1600" dirty="0"/>
          </a:p>
        </p:txBody>
      </p:sp>
      <p:sp>
        <p:nvSpPr>
          <p:cNvPr id="30" name="Rectangle 29"/>
          <p:cNvSpPr/>
          <p:nvPr/>
        </p:nvSpPr>
        <p:spPr>
          <a:xfrm>
            <a:off x="4113853" y="2436933"/>
            <a:ext cx="1028700" cy="44577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1" name="TextBox 30"/>
          <p:cNvSpPr txBox="1"/>
          <p:nvPr/>
        </p:nvSpPr>
        <p:spPr>
          <a:xfrm>
            <a:off x="2124032" y="2426218"/>
            <a:ext cx="2383841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Lissage</a:t>
            </a:r>
            <a:r>
              <a:rPr sz="1600" dirty="0"/>
              <a:t> ext.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372" y="2419787"/>
            <a:ext cx="1028700" cy="44577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3" name="TextBox 32"/>
          <p:cNvSpPr txBox="1"/>
          <p:nvPr/>
        </p:nvSpPr>
        <p:spPr>
          <a:xfrm>
            <a:off x="4173957" y="2388817"/>
            <a:ext cx="1735007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(A⊖B)⊕B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72056" y="2384460"/>
            <a:ext cx="1097280" cy="44577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5" name="TextBox 34"/>
          <p:cNvSpPr txBox="1"/>
          <p:nvPr/>
        </p:nvSpPr>
        <p:spPr>
          <a:xfrm>
            <a:off x="5526692" y="2426218"/>
            <a:ext cx="1994248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Filtre</a:t>
            </a:r>
            <a:r>
              <a:rPr sz="1600" dirty="0"/>
              <a:t> </a:t>
            </a:r>
            <a:r>
              <a:rPr sz="1600" dirty="0" err="1"/>
              <a:t>objets</a:t>
            </a:r>
            <a:r>
              <a:rPr sz="1600" dirty="0"/>
              <a:t> petits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59747" y="2413488"/>
            <a:ext cx="1371600" cy="44577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7" name="TextBox 36"/>
          <p:cNvSpPr txBox="1"/>
          <p:nvPr/>
        </p:nvSpPr>
        <p:spPr>
          <a:xfrm>
            <a:off x="7208035" y="2400298"/>
            <a:ext cx="2191146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Perte</a:t>
            </a:r>
            <a:r>
              <a:rPr sz="1600" dirty="0"/>
              <a:t> </a:t>
            </a:r>
            <a:r>
              <a:rPr sz="1600" dirty="0" err="1"/>
              <a:t>protubérances</a:t>
            </a:r>
            <a:endParaRPr sz="1600" dirty="0"/>
          </a:p>
        </p:txBody>
      </p:sp>
      <p:sp>
        <p:nvSpPr>
          <p:cNvPr id="38" name="Rectangle 37"/>
          <p:cNvSpPr/>
          <p:nvPr/>
        </p:nvSpPr>
        <p:spPr>
          <a:xfrm>
            <a:off x="318977" y="2777489"/>
            <a:ext cx="1644699" cy="480061"/>
          </a:xfrm>
          <a:prstGeom prst="rect">
            <a:avLst/>
          </a:prstGeom>
          <a:solidFill>
            <a:srgbClr val="ECF0F1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9" name="TextBox 38"/>
          <p:cNvSpPr txBox="1"/>
          <p:nvPr/>
        </p:nvSpPr>
        <p:spPr>
          <a:xfrm>
            <a:off x="391020" y="2807039"/>
            <a:ext cx="2924933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Fermeture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73116" y="2773056"/>
            <a:ext cx="1733248" cy="480061"/>
          </a:xfrm>
          <a:prstGeom prst="rect">
            <a:avLst/>
          </a:prstGeom>
          <a:solidFill>
            <a:srgbClr val="ECF0F1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1" name="TextBox 40"/>
          <p:cNvSpPr txBox="1"/>
          <p:nvPr/>
        </p:nvSpPr>
        <p:spPr>
          <a:xfrm>
            <a:off x="2145691" y="2832267"/>
            <a:ext cx="2238459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 dirty="0" err="1"/>
              <a:t>Lissage</a:t>
            </a:r>
            <a:r>
              <a:rPr sz="1600" dirty="0"/>
              <a:t> int.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44680" y="2777489"/>
            <a:ext cx="1578170" cy="480061"/>
          </a:xfrm>
          <a:prstGeom prst="rect">
            <a:avLst/>
          </a:prstGeom>
          <a:solidFill>
            <a:srgbClr val="ECF0F1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3" name="TextBox 42"/>
          <p:cNvSpPr txBox="1"/>
          <p:nvPr/>
        </p:nvSpPr>
        <p:spPr>
          <a:xfrm>
            <a:off x="4156985" y="2834587"/>
            <a:ext cx="1690873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Calibri"/>
              </a:defRPr>
            </a:pPr>
            <a:r>
              <a:rPr sz="1600"/>
              <a:t>(A⊕B)⊖B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94216" y="2777489"/>
            <a:ext cx="1518434" cy="480061"/>
          </a:xfrm>
          <a:prstGeom prst="rect">
            <a:avLst/>
          </a:prstGeom>
          <a:solidFill>
            <a:srgbClr val="ECF0F1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5" name="TextBox 44"/>
          <p:cNvSpPr txBox="1"/>
          <p:nvPr/>
        </p:nvSpPr>
        <p:spPr>
          <a:xfrm>
            <a:off x="5526692" y="2819789"/>
            <a:ext cx="1867202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Comble </a:t>
            </a:r>
            <a:r>
              <a:rPr sz="1600" dirty="0" err="1"/>
              <a:t>cavités</a:t>
            </a:r>
            <a:endParaRPr sz="1600" dirty="0"/>
          </a:p>
        </p:txBody>
      </p:sp>
      <p:sp>
        <p:nvSpPr>
          <p:cNvPr id="46" name="Rectangle 45"/>
          <p:cNvSpPr/>
          <p:nvPr/>
        </p:nvSpPr>
        <p:spPr>
          <a:xfrm>
            <a:off x="7203047" y="2777489"/>
            <a:ext cx="1659189" cy="480061"/>
          </a:xfrm>
          <a:prstGeom prst="rect">
            <a:avLst/>
          </a:prstGeom>
          <a:solidFill>
            <a:srgbClr val="ECF0F1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7" name="TextBox 46"/>
          <p:cNvSpPr txBox="1"/>
          <p:nvPr/>
        </p:nvSpPr>
        <p:spPr>
          <a:xfrm>
            <a:off x="7276912" y="2865557"/>
            <a:ext cx="3731812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/>
              <a:t>Jonction objets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8977" y="3669030"/>
            <a:ext cx="8543260" cy="1377398"/>
          </a:xfrm>
          <a:prstGeom prst="rect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9" name="TextBox 48"/>
          <p:cNvSpPr txBox="1"/>
          <p:nvPr/>
        </p:nvSpPr>
        <p:spPr>
          <a:xfrm>
            <a:off x="1623060" y="3649800"/>
            <a:ext cx="589788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Note </a:t>
            </a:r>
            <a:r>
              <a:rPr dirty="0" err="1"/>
              <a:t>Importante</a:t>
            </a:r>
            <a:endParaRPr dirty="0"/>
          </a:p>
        </p:txBody>
      </p:sp>
      <p:sp>
        <p:nvSpPr>
          <p:cNvPr id="50" name="TextBox 49"/>
          <p:cNvSpPr txBox="1"/>
          <p:nvPr/>
        </p:nvSpPr>
        <p:spPr>
          <a:xfrm>
            <a:off x="1623060" y="4094585"/>
            <a:ext cx="5897880" cy="854080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Le choix de </a:t>
            </a:r>
            <a:r>
              <a:rPr sz="1600" dirty="0" err="1"/>
              <a:t>l'opération</a:t>
            </a:r>
            <a:r>
              <a:rPr sz="1600" dirty="0"/>
              <a:t> </a:t>
            </a:r>
            <a:r>
              <a:rPr sz="1600" dirty="0" err="1"/>
              <a:t>dépend</a:t>
            </a:r>
            <a:r>
              <a:rPr sz="1600" dirty="0"/>
              <a:t> du </a:t>
            </a:r>
            <a:r>
              <a:rPr sz="1600" dirty="0" err="1"/>
              <a:t>problème</a:t>
            </a:r>
            <a:r>
              <a:rPr sz="1600" dirty="0"/>
              <a:t> à </a:t>
            </a:r>
            <a:r>
              <a:rPr sz="1600" dirty="0" err="1"/>
              <a:t>résoudre</a:t>
            </a:r>
            <a:r>
              <a:rPr sz="1600" dirty="0"/>
              <a:t> et de </a:t>
            </a:r>
            <a:r>
              <a:rPr sz="1600" dirty="0" err="1"/>
              <a:t>l'effet</a:t>
            </a:r>
            <a:r>
              <a:rPr sz="1600" dirty="0"/>
              <a:t> </a:t>
            </a:r>
            <a:r>
              <a:rPr sz="1600" dirty="0" err="1"/>
              <a:t>désiré</a:t>
            </a:r>
            <a:r>
              <a:rPr sz="1600" dirty="0"/>
              <a:t>.</a:t>
            </a:r>
            <a:br>
              <a:rPr sz="1600" dirty="0"/>
            </a:br>
            <a:r>
              <a:rPr sz="1600" dirty="0" err="1"/>
              <a:t>Souvent</a:t>
            </a:r>
            <a:r>
              <a:rPr sz="1600" dirty="0"/>
              <a:t> </a:t>
            </a:r>
            <a:r>
              <a:rPr sz="1600" dirty="0" err="1"/>
              <a:t>utilisées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cascade pour </a:t>
            </a:r>
            <a:r>
              <a:rPr sz="1600" dirty="0" err="1"/>
              <a:t>obtenir</a:t>
            </a:r>
            <a:r>
              <a:rPr sz="1600" dirty="0"/>
              <a:t> des </a:t>
            </a:r>
            <a:r>
              <a:rPr sz="1600" dirty="0" err="1"/>
              <a:t>résultats</a:t>
            </a:r>
            <a:r>
              <a:rPr sz="1600" dirty="0"/>
              <a:t> </a:t>
            </a:r>
            <a:r>
              <a:rPr sz="1600" dirty="0" err="1"/>
              <a:t>optimaux</a:t>
            </a:r>
            <a:r>
              <a:rPr sz="1600" dirty="0"/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324AD7D-33B8-4F00-6669-0647690D98CC}"/>
              </a:ext>
            </a:extLst>
          </p:cNvPr>
          <p:cNvSpPr txBox="1"/>
          <p:nvPr/>
        </p:nvSpPr>
        <p:spPr>
          <a:xfrm>
            <a:off x="8725296" y="47988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5900" y="274320"/>
            <a:ext cx="3752694" cy="461665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defRPr sz="4000" b="1">
                <a:solidFill>
                  <a:srgbClr val="1E2761"/>
                </a:solidFill>
                <a:latin typeface="Calibri"/>
              </a:defRPr>
            </a:pP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Applications Pratiques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1237" y="838855"/>
            <a:ext cx="3573603" cy="461665"/>
          </a:xfrm>
          <a:prstGeom prst="rect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1350"/>
              <a:t>Médical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861237" y="1403390"/>
            <a:ext cx="3573603" cy="137410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1588771" y="1484084"/>
            <a:ext cx="27432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• Segmentation </a:t>
            </a:r>
            <a:r>
              <a:rPr sz="1600" dirty="0" err="1"/>
              <a:t>d'organes</a:t>
            </a:r>
            <a:endParaRPr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1588771" y="1744688"/>
            <a:ext cx="27432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/>
              <a:t>• Détection de tumeurs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8771" y="2005292"/>
            <a:ext cx="27432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/>
              <a:t>• Analyse cellulaire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8771" y="2265896"/>
            <a:ext cx="27432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/>
              <a:t>• Nettoyage d'images IRM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59" y="838855"/>
            <a:ext cx="3573603" cy="461665"/>
          </a:xfrm>
          <a:prstGeom prst="rect">
            <a:avLst/>
          </a:prstGeom>
          <a:solidFill>
            <a:srgbClr val="8D989F"/>
          </a:solidFill>
          <a:ln>
            <a:solidFill>
              <a:srgbClr val="2E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1350" dirty="0" err="1"/>
              <a:t>Industriel</a:t>
            </a:r>
            <a:endParaRPr sz="1350" dirty="0"/>
          </a:p>
        </p:txBody>
      </p:sp>
      <p:sp>
        <p:nvSpPr>
          <p:cNvPr id="10" name="Rectangle 9"/>
          <p:cNvSpPr/>
          <p:nvPr/>
        </p:nvSpPr>
        <p:spPr>
          <a:xfrm>
            <a:off x="4709160" y="1403390"/>
            <a:ext cx="3573602" cy="137410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4812029" y="1477997"/>
            <a:ext cx="27432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• Inspection </a:t>
            </a:r>
            <a:r>
              <a:rPr sz="1600" dirty="0" err="1"/>
              <a:t>qualité</a:t>
            </a:r>
            <a:endParaRPr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4812029" y="1738601"/>
            <a:ext cx="27432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/>
              <a:t>• Détection de défauts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2029" y="1999205"/>
            <a:ext cx="27432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/>
              <a:t>• Mesure de dimensions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2029" y="2259809"/>
            <a:ext cx="27432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/>
              <a:t>• Reconnaissance de formes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1237" y="2863215"/>
            <a:ext cx="3573603" cy="342900"/>
          </a:xfrm>
          <a:prstGeom prst="rect">
            <a:avLst/>
          </a:prstGeom>
          <a:solidFill>
            <a:srgbClr val="8D989F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1350" dirty="0" err="1"/>
              <a:t>Télédétection</a:t>
            </a:r>
            <a:endParaRPr sz="1350" dirty="0"/>
          </a:p>
        </p:txBody>
      </p:sp>
      <p:sp>
        <p:nvSpPr>
          <p:cNvPr id="16" name="Rectangle 15"/>
          <p:cNvSpPr/>
          <p:nvPr/>
        </p:nvSpPr>
        <p:spPr>
          <a:xfrm>
            <a:off x="861237" y="3326130"/>
            <a:ext cx="3573603" cy="128840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1588770" y="3429000"/>
            <a:ext cx="27432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/>
              <a:t>• Extraction de routes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8770" y="3689604"/>
            <a:ext cx="27432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/>
              <a:t>• Classification de terrains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8770" y="3950208"/>
            <a:ext cx="27432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/>
              <a:t>• Détection de bâtiments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8770" y="4210812"/>
            <a:ext cx="27432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/>
              <a:t>• Analyse de végétation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58" y="2856304"/>
            <a:ext cx="3573601" cy="342900"/>
          </a:xfrm>
          <a:prstGeom prst="rect">
            <a:avLst/>
          </a:prstGeom>
          <a:solidFill>
            <a:srgbClr val="8D989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1350" dirty="0"/>
              <a:t>Reconnaissance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59" y="3326130"/>
            <a:ext cx="3573599" cy="128840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TextBox 22"/>
          <p:cNvSpPr txBox="1"/>
          <p:nvPr/>
        </p:nvSpPr>
        <p:spPr>
          <a:xfrm>
            <a:off x="4812030" y="3429000"/>
            <a:ext cx="27432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 dirty="0"/>
              <a:t>• OCR (</a:t>
            </a:r>
            <a:r>
              <a:rPr sz="1600" dirty="0" err="1"/>
              <a:t>caractères</a:t>
            </a:r>
            <a:r>
              <a:rPr sz="1600" dirty="0"/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2030" y="3689604"/>
            <a:ext cx="27432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/>
              <a:t>• Extraction de traits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2030" y="3950208"/>
            <a:ext cx="3183654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/>
              <a:t>• Reconnaissance d'empreintes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2030" y="4210812"/>
            <a:ext cx="2743200" cy="361637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600"/>
              <a:t>• Analyse de documents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190" y="4711276"/>
            <a:ext cx="8369105" cy="342900"/>
          </a:xfrm>
          <a:prstGeom prst="rect">
            <a:avLst/>
          </a:prstGeom>
          <a:solidFill>
            <a:srgbClr val="ECF0F1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8" name="TextBox 27"/>
          <p:cNvSpPr txBox="1"/>
          <p:nvPr/>
        </p:nvSpPr>
        <p:spPr>
          <a:xfrm>
            <a:off x="356189" y="4700978"/>
            <a:ext cx="10542181" cy="346249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 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morphologie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mathématique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est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un 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outil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fondamental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dans 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tous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les 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domaines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du 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traitement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d'images</a:t>
            </a:r>
            <a:endParaRPr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F5857F-1B7A-D4C7-68C7-0DF499171EC0}"/>
              </a:ext>
            </a:extLst>
          </p:cNvPr>
          <p:cNvSpPr txBox="1"/>
          <p:nvPr/>
        </p:nvSpPr>
        <p:spPr>
          <a:xfrm>
            <a:off x="8725296" y="47988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5900" y="43487"/>
            <a:ext cx="3599062" cy="461665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defRPr sz="4000" b="1">
                <a:solidFill>
                  <a:srgbClr val="1E2761"/>
                </a:solidFill>
                <a:latin typeface="Calibri"/>
              </a:defRPr>
            </a:pP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Techniques </a:t>
            </a: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Avancées</a:t>
            </a:r>
            <a:endParaRPr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4131" y="550869"/>
            <a:ext cx="3086100" cy="342900"/>
          </a:xfrm>
          <a:prstGeom prst="rect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1350" dirty="0"/>
              <a:t>Gradient </a:t>
            </a:r>
            <a:r>
              <a:rPr sz="1350" dirty="0" err="1"/>
              <a:t>Morphologique</a:t>
            </a:r>
            <a:endParaRPr sz="1350" dirty="0"/>
          </a:p>
        </p:txBody>
      </p:sp>
      <p:sp>
        <p:nvSpPr>
          <p:cNvPr id="4" name="Rectangle 3"/>
          <p:cNvSpPr/>
          <p:nvPr/>
        </p:nvSpPr>
        <p:spPr>
          <a:xfrm>
            <a:off x="1485900" y="1405889"/>
            <a:ext cx="30861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573362" y="973603"/>
            <a:ext cx="2880360" cy="1192634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400" b="1" dirty="0" err="1"/>
              <a:t>Formule</a:t>
            </a:r>
            <a:r>
              <a:rPr sz="1400" b="1" dirty="0"/>
              <a:t> : </a:t>
            </a:r>
            <a:r>
              <a:rPr sz="1400" dirty="0"/>
              <a:t>∇(A) = (A ⊕ B) - (A ⊖ B)</a:t>
            </a:r>
            <a:r>
              <a:rPr lang="en-US" sz="1400" dirty="0"/>
              <a:t>=</a:t>
            </a:r>
            <a:br>
              <a:rPr sz="1400" dirty="0"/>
            </a:br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Application : </a:t>
            </a:r>
            <a:r>
              <a:rPr sz="1400" dirty="0" err="1"/>
              <a:t>Détection</a:t>
            </a:r>
            <a:r>
              <a:rPr sz="1400" dirty="0"/>
              <a:t> de contours</a:t>
            </a:r>
            <a:br>
              <a:rPr sz="1400" dirty="0"/>
            </a:br>
            <a:r>
              <a:rPr sz="1400" dirty="0"/>
              <a:t>• Plus </a:t>
            </a:r>
            <a:r>
              <a:rPr sz="1400" dirty="0" err="1"/>
              <a:t>robuste</a:t>
            </a:r>
            <a:r>
              <a:rPr sz="1400" dirty="0"/>
              <a:t> que gradient </a:t>
            </a:r>
            <a:r>
              <a:rPr sz="1400" dirty="0" err="1"/>
              <a:t>classique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Adapté</a:t>
            </a:r>
            <a:r>
              <a:rPr sz="1400" dirty="0"/>
              <a:t> aux </a:t>
            </a:r>
            <a:r>
              <a:rPr sz="1400" dirty="0" err="1"/>
              <a:t>formes</a:t>
            </a:r>
            <a:r>
              <a:rPr sz="1400" dirty="0"/>
              <a:t> </a:t>
            </a:r>
            <a:r>
              <a:rPr sz="1400" dirty="0" err="1"/>
              <a:t>irrégulières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Épaisseur</a:t>
            </a:r>
            <a:r>
              <a:rPr sz="1400" dirty="0"/>
              <a:t> </a:t>
            </a:r>
            <a:r>
              <a:rPr sz="1400" dirty="0" err="1"/>
              <a:t>contrôlable</a:t>
            </a:r>
            <a:r>
              <a:rPr sz="1400" dirty="0"/>
              <a:t> par 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810166" y="550869"/>
            <a:ext cx="2948940" cy="342900"/>
          </a:xfrm>
          <a:prstGeom prst="rect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1350" dirty="0"/>
              <a:t>Top-Hat Transform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60" y="1405889"/>
            <a:ext cx="29489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4709160" y="967996"/>
            <a:ext cx="4284123" cy="1192634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400" b="1" dirty="0"/>
              <a:t>White Top-Hat : </a:t>
            </a:r>
            <a:r>
              <a:rPr sz="1400" dirty="0"/>
              <a:t>A - (A ○ B)</a:t>
            </a:r>
            <a:br>
              <a:rPr sz="1400" dirty="0"/>
            </a:br>
            <a:r>
              <a:rPr sz="1400" b="1" dirty="0"/>
              <a:t>Black Top-Hat : </a:t>
            </a:r>
            <a:r>
              <a:rPr sz="1400" dirty="0"/>
              <a:t>(A • B) - A</a:t>
            </a:r>
            <a:br>
              <a:rPr sz="1400" dirty="0"/>
            </a:br>
            <a:r>
              <a:rPr sz="1400" b="1" dirty="0"/>
              <a:t>Application : </a:t>
            </a:r>
            <a:r>
              <a:rPr sz="1400" dirty="0"/>
              <a:t>Extraction de structures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Détection</a:t>
            </a:r>
            <a:r>
              <a:rPr sz="1400" dirty="0"/>
              <a:t> de petits </a:t>
            </a:r>
            <a:r>
              <a:rPr sz="1400" dirty="0" err="1"/>
              <a:t>objets</a:t>
            </a:r>
            <a:r>
              <a:rPr sz="1400" dirty="0"/>
              <a:t> </a:t>
            </a:r>
            <a:r>
              <a:rPr sz="1400" dirty="0" err="1"/>
              <a:t>clairs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Détection</a:t>
            </a:r>
            <a:r>
              <a:rPr sz="1400" dirty="0"/>
              <a:t> de petits </a:t>
            </a:r>
            <a:r>
              <a:rPr sz="1400" dirty="0" err="1"/>
              <a:t>objets</a:t>
            </a:r>
            <a:r>
              <a:rPr sz="1400" dirty="0"/>
              <a:t> </a:t>
            </a:r>
            <a:r>
              <a:rPr sz="1400" dirty="0" err="1"/>
              <a:t>sombres</a:t>
            </a:r>
            <a:endParaRPr sz="1400" dirty="0"/>
          </a:p>
        </p:txBody>
      </p:sp>
      <p:sp>
        <p:nvSpPr>
          <p:cNvPr id="9" name="Rectangle 8"/>
          <p:cNvSpPr/>
          <p:nvPr/>
        </p:nvSpPr>
        <p:spPr>
          <a:xfrm>
            <a:off x="624131" y="2257293"/>
            <a:ext cx="3086100" cy="342900"/>
          </a:xfrm>
          <a:prstGeom prst="rect">
            <a:avLst/>
          </a:prstGeom>
          <a:solidFill>
            <a:srgbClr val="8D989F"/>
          </a:solidFill>
          <a:ln>
            <a:solidFill>
              <a:srgbClr val="2E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1350" dirty="0" err="1"/>
              <a:t>Squelettisation</a:t>
            </a:r>
            <a:endParaRPr sz="1350" dirty="0"/>
          </a:p>
        </p:txBody>
      </p:sp>
      <p:sp>
        <p:nvSpPr>
          <p:cNvPr id="10" name="Rectangle 9"/>
          <p:cNvSpPr/>
          <p:nvPr/>
        </p:nvSpPr>
        <p:spPr>
          <a:xfrm>
            <a:off x="1485900" y="2777490"/>
            <a:ext cx="3086100" cy="8915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526313" y="2572017"/>
            <a:ext cx="4486938" cy="1192634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400" dirty="0" err="1"/>
              <a:t>Réduction</a:t>
            </a:r>
            <a:r>
              <a:rPr sz="1400" dirty="0"/>
              <a:t> à </a:t>
            </a:r>
            <a:r>
              <a:rPr sz="1400" dirty="0" err="1"/>
              <a:t>l'axe</a:t>
            </a:r>
            <a:r>
              <a:rPr sz="1400" dirty="0"/>
              <a:t> </a:t>
            </a:r>
            <a:r>
              <a:rPr sz="1400" dirty="0" err="1"/>
              <a:t>médian</a:t>
            </a:r>
            <a:br>
              <a:rPr sz="1400" dirty="0"/>
            </a:br>
            <a:r>
              <a:rPr sz="1400" b="1" dirty="0" err="1"/>
              <a:t>Méthode</a:t>
            </a:r>
            <a:r>
              <a:rPr sz="1400" b="1" dirty="0"/>
              <a:t> : </a:t>
            </a:r>
            <a:r>
              <a:rPr sz="1400" dirty="0" err="1"/>
              <a:t>Érosions</a:t>
            </a:r>
            <a:r>
              <a:rPr sz="1400" dirty="0"/>
              <a:t> </a:t>
            </a:r>
            <a:r>
              <a:rPr sz="1400" dirty="0" err="1"/>
              <a:t>successives</a:t>
            </a:r>
            <a:r>
              <a:rPr sz="1400" dirty="0"/>
              <a:t> </a:t>
            </a:r>
            <a:r>
              <a:rPr sz="1400" dirty="0" err="1"/>
              <a:t>jusqu'à</a:t>
            </a:r>
            <a:r>
              <a:rPr sz="1400" dirty="0"/>
              <a:t> </a:t>
            </a:r>
            <a:br>
              <a:rPr sz="1400" dirty="0"/>
            </a:br>
            <a:r>
              <a:rPr sz="1400" dirty="0" err="1"/>
              <a:t>stabilité</a:t>
            </a:r>
            <a:r>
              <a:rPr sz="1400" dirty="0"/>
              <a:t> tout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préservant</a:t>
            </a:r>
            <a:r>
              <a:rPr sz="1400" dirty="0"/>
              <a:t> la </a:t>
            </a:r>
            <a:r>
              <a:rPr sz="1400" dirty="0" err="1"/>
              <a:t>connexité</a:t>
            </a:r>
            <a:br>
              <a:rPr sz="1400" dirty="0"/>
            </a:br>
            <a:r>
              <a:rPr sz="1400" b="1" dirty="0" err="1"/>
              <a:t>Utilité</a:t>
            </a:r>
            <a:r>
              <a:rPr sz="1400" b="1" dirty="0"/>
              <a:t> : </a:t>
            </a:r>
            <a:r>
              <a:rPr sz="1400" dirty="0" err="1"/>
              <a:t>Représentation</a:t>
            </a:r>
            <a:r>
              <a:rPr sz="1400" dirty="0"/>
              <a:t> </a:t>
            </a:r>
            <a:r>
              <a:rPr sz="1400" dirty="0" err="1"/>
              <a:t>compacte</a:t>
            </a:r>
            <a:r>
              <a:rPr sz="1400" dirty="0"/>
              <a:t>,</a:t>
            </a:r>
            <a:br>
              <a:rPr sz="1400" dirty="0"/>
            </a:br>
            <a:r>
              <a:rPr sz="1400" dirty="0" err="1"/>
              <a:t>analyse</a:t>
            </a:r>
            <a:r>
              <a:rPr sz="1400" dirty="0"/>
              <a:t> de </a:t>
            </a:r>
            <a:r>
              <a:rPr sz="1400" dirty="0" err="1"/>
              <a:t>forme</a:t>
            </a:r>
            <a:r>
              <a:rPr sz="1400" dirty="0"/>
              <a:t>, reconnaissance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12030" y="2231376"/>
            <a:ext cx="2948940" cy="342900"/>
          </a:xfrm>
          <a:prstGeom prst="rect">
            <a:avLst/>
          </a:prstGeom>
          <a:solidFill>
            <a:srgbClr val="8D989F"/>
          </a:solidFill>
          <a:ln>
            <a:solidFill>
              <a:srgbClr val="2E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1350" dirty="0"/>
              <a:t>Reconstruction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2777490"/>
            <a:ext cx="4284122" cy="8915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4812030" y="2562710"/>
            <a:ext cx="4318412" cy="1192634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400" b="1" dirty="0"/>
              <a:t>Principe : </a:t>
            </a:r>
            <a:r>
              <a:rPr sz="1400" dirty="0"/>
              <a:t>Dilatations </a:t>
            </a:r>
            <a:r>
              <a:rPr sz="1400" dirty="0" err="1"/>
              <a:t>géodésiques</a:t>
            </a:r>
            <a:r>
              <a:rPr sz="1400" dirty="0"/>
              <a:t> </a:t>
            </a:r>
            <a:br>
              <a:rPr sz="1400" dirty="0"/>
            </a:br>
            <a:r>
              <a:rPr sz="1400" dirty="0" err="1"/>
              <a:t>conditionnelles</a:t>
            </a:r>
            <a:br>
              <a:rPr sz="1400" dirty="0"/>
            </a:br>
            <a:r>
              <a:rPr sz="1400" b="1" dirty="0" err="1"/>
              <a:t>Avantage</a:t>
            </a:r>
            <a:r>
              <a:rPr sz="1400" b="1" dirty="0"/>
              <a:t> : </a:t>
            </a:r>
            <a:r>
              <a:rPr sz="1400" dirty="0" err="1"/>
              <a:t>Préserve</a:t>
            </a:r>
            <a:r>
              <a:rPr sz="1400" dirty="0"/>
              <a:t> </a:t>
            </a:r>
            <a:r>
              <a:rPr sz="1400" dirty="0" err="1"/>
              <a:t>exactement</a:t>
            </a:r>
            <a:r>
              <a:rPr sz="1400" dirty="0"/>
              <a:t> les </a:t>
            </a:r>
            <a:br>
              <a:rPr sz="1400" dirty="0"/>
            </a:br>
            <a:r>
              <a:rPr sz="1400" dirty="0" err="1"/>
              <a:t>formes</a:t>
            </a:r>
            <a:r>
              <a:rPr sz="1400" dirty="0"/>
              <a:t> </a:t>
            </a:r>
            <a:r>
              <a:rPr sz="1400" dirty="0" err="1"/>
              <a:t>d'intérêt</a:t>
            </a:r>
            <a:r>
              <a:rPr sz="1400" dirty="0"/>
              <a:t> sans </a:t>
            </a:r>
            <a:r>
              <a:rPr sz="1400" dirty="0" err="1"/>
              <a:t>distorsion</a:t>
            </a:r>
            <a:br>
              <a:rPr sz="1400" dirty="0"/>
            </a:br>
            <a:r>
              <a:rPr sz="1400" b="1" dirty="0"/>
              <a:t>Application : </a:t>
            </a:r>
            <a:r>
              <a:rPr sz="1400" dirty="0" err="1"/>
              <a:t>Remplissage</a:t>
            </a:r>
            <a:r>
              <a:rPr sz="1400" dirty="0"/>
              <a:t> de </a:t>
            </a:r>
            <a:r>
              <a:rPr sz="1400" dirty="0" err="1"/>
              <a:t>trous</a:t>
            </a:r>
            <a:endParaRPr sz="1400" dirty="0"/>
          </a:p>
        </p:txBody>
      </p:sp>
      <p:sp>
        <p:nvSpPr>
          <p:cNvPr id="15" name="Rectangle 14"/>
          <p:cNvSpPr/>
          <p:nvPr/>
        </p:nvSpPr>
        <p:spPr>
          <a:xfrm>
            <a:off x="1363626" y="3883810"/>
            <a:ext cx="6172200" cy="342900"/>
          </a:xfrm>
          <a:prstGeom prst="rect">
            <a:avLst/>
          </a:prstGeom>
          <a:solidFill>
            <a:srgbClr val="8D989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1350" dirty="0" err="1"/>
              <a:t>Ligne</a:t>
            </a:r>
            <a:r>
              <a:rPr sz="1350" dirty="0"/>
              <a:t> de Partage des </a:t>
            </a:r>
            <a:r>
              <a:rPr sz="1350" dirty="0" err="1"/>
              <a:t>Eaux</a:t>
            </a:r>
            <a:r>
              <a:rPr sz="1350" dirty="0"/>
              <a:t> (Watershed)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85900" y="4217670"/>
            <a:ext cx="6172200" cy="65151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1240820" y="4222193"/>
            <a:ext cx="6936680" cy="884858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000" dirty="0" err="1">
                <a:latin typeface="Amasis MT Pro Black" panose="02040A04050005020304" pitchFamily="18" charset="0"/>
                <a:cs typeface="Aharoni" panose="02010803020104030203" pitchFamily="2" charset="-79"/>
              </a:rPr>
              <a:t>Basé</a:t>
            </a:r>
            <a:r>
              <a:rPr sz="1000" dirty="0">
                <a:latin typeface="Amasis MT Pro Black" panose="02040A04050005020304" pitchFamily="18" charset="0"/>
                <a:cs typeface="Aharoni" panose="02010803020104030203" pitchFamily="2" charset="-79"/>
              </a:rPr>
              <a:t> sur </a:t>
            </a:r>
            <a:r>
              <a:rPr sz="1000" dirty="0" err="1">
                <a:latin typeface="Amasis MT Pro Black" panose="02040A04050005020304" pitchFamily="18" charset="0"/>
                <a:cs typeface="Aharoni" panose="02010803020104030203" pitchFamily="2" charset="-79"/>
              </a:rPr>
              <a:t>l'analogie</a:t>
            </a:r>
            <a:r>
              <a:rPr sz="1000" dirty="0">
                <a:latin typeface="Amasis MT Pro Black" panose="02040A04050005020304" pitchFamily="18" charset="0"/>
                <a:cs typeface="Aharoni" panose="02010803020104030203" pitchFamily="2" charset="-79"/>
              </a:rPr>
              <a:t> </a:t>
            </a:r>
            <a:r>
              <a:rPr sz="1000" dirty="0" err="1">
                <a:latin typeface="Amasis MT Pro Black" panose="02040A04050005020304" pitchFamily="18" charset="0"/>
                <a:cs typeface="Aharoni" panose="02010803020104030203" pitchFamily="2" charset="-79"/>
              </a:rPr>
              <a:t>topographique</a:t>
            </a:r>
            <a:r>
              <a:rPr sz="1000" dirty="0">
                <a:latin typeface="Amasis MT Pro Black" panose="02040A04050005020304" pitchFamily="18" charset="0"/>
                <a:cs typeface="Aharoni" panose="02010803020104030203" pitchFamily="2" charset="-79"/>
              </a:rPr>
              <a:t> : immersion progressive </a:t>
            </a:r>
            <a:r>
              <a:rPr sz="1000" dirty="0" err="1">
                <a:latin typeface="Amasis MT Pro Black" panose="02040A04050005020304" pitchFamily="18" charset="0"/>
                <a:cs typeface="Aharoni" panose="02010803020104030203" pitchFamily="2" charset="-79"/>
              </a:rPr>
              <a:t>depuis</a:t>
            </a:r>
            <a:r>
              <a:rPr sz="1000" dirty="0">
                <a:latin typeface="Amasis MT Pro Black" panose="02040A04050005020304" pitchFamily="18" charset="0"/>
                <a:cs typeface="Aharoni" panose="02010803020104030203" pitchFamily="2" charset="-79"/>
              </a:rPr>
              <a:t> les minima</a:t>
            </a:r>
            <a:br>
              <a:rPr sz="1000" dirty="0">
                <a:latin typeface="Amasis MT Pro Black" panose="02040A04050005020304" pitchFamily="18" charset="0"/>
                <a:cs typeface="Aharoni" panose="02010803020104030203" pitchFamily="2" charset="-79"/>
              </a:rPr>
            </a:br>
            <a:br>
              <a:rPr sz="1000" dirty="0">
                <a:latin typeface="Amasis MT Pro Black" panose="02040A04050005020304" pitchFamily="18" charset="0"/>
                <a:cs typeface="Aharoni" panose="02010803020104030203" pitchFamily="2" charset="-79"/>
              </a:rPr>
            </a:br>
            <a:r>
              <a:rPr sz="1000" dirty="0">
                <a:latin typeface="Amasis MT Pro Black" panose="02040A04050005020304" pitchFamily="18" charset="0"/>
                <a:cs typeface="Aharoni" panose="02010803020104030203" pitchFamily="2" charset="-79"/>
              </a:rPr>
              <a:t>Applications : Segmentation </a:t>
            </a:r>
            <a:r>
              <a:rPr sz="1000" dirty="0" err="1">
                <a:latin typeface="Amasis MT Pro Black" panose="02040A04050005020304" pitchFamily="18" charset="0"/>
                <a:cs typeface="Aharoni" panose="02010803020104030203" pitchFamily="2" charset="-79"/>
              </a:rPr>
              <a:t>d'objets</a:t>
            </a:r>
            <a:r>
              <a:rPr sz="1000" dirty="0">
                <a:latin typeface="Amasis MT Pro Black" panose="02040A04050005020304" pitchFamily="18" charset="0"/>
                <a:cs typeface="Aharoni" panose="02010803020104030203" pitchFamily="2" charset="-79"/>
              </a:rPr>
              <a:t> qui se </a:t>
            </a:r>
            <a:r>
              <a:rPr sz="1000" dirty="0" err="1">
                <a:latin typeface="Amasis MT Pro Black" panose="02040A04050005020304" pitchFamily="18" charset="0"/>
                <a:cs typeface="Aharoni" panose="02010803020104030203" pitchFamily="2" charset="-79"/>
              </a:rPr>
              <a:t>touchent</a:t>
            </a:r>
            <a:r>
              <a:rPr sz="1000" dirty="0">
                <a:latin typeface="Amasis MT Pro Black" panose="02040A04050005020304" pitchFamily="18" charset="0"/>
                <a:cs typeface="Aharoni" panose="02010803020104030203" pitchFamily="2" charset="-79"/>
              </a:rPr>
              <a:t>, </a:t>
            </a:r>
            <a:r>
              <a:rPr sz="1000" dirty="0" err="1">
                <a:latin typeface="Amasis MT Pro Black" panose="02040A04050005020304" pitchFamily="18" charset="0"/>
                <a:cs typeface="Aharoni" panose="02010803020104030203" pitchFamily="2" charset="-79"/>
              </a:rPr>
              <a:t>séparation</a:t>
            </a:r>
            <a:r>
              <a:rPr sz="1000" dirty="0">
                <a:latin typeface="Amasis MT Pro Black" panose="02040A04050005020304" pitchFamily="18" charset="0"/>
                <a:cs typeface="Aharoni" panose="02010803020104030203" pitchFamily="2" charset="-79"/>
              </a:rPr>
              <a:t> de cellules, </a:t>
            </a:r>
            <a:r>
              <a:rPr sz="1000" dirty="0" err="1">
                <a:latin typeface="Amasis MT Pro Black" panose="02040A04050005020304" pitchFamily="18" charset="0"/>
                <a:cs typeface="Aharoni" panose="02010803020104030203" pitchFamily="2" charset="-79"/>
              </a:rPr>
              <a:t>comptage</a:t>
            </a:r>
            <a:r>
              <a:rPr sz="1000" dirty="0">
                <a:latin typeface="Amasis MT Pro Black" panose="02040A04050005020304" pitchFamily="18" charset="0"/>
                <a:cs typeface="Aharoni" panose="02010803020104030203" pitchFamily="2" charset="-79"/>
              </a:rPr>
              <a:t> </a:t>
            </a:r>
            <a:r>
              <a:rPr sz="1000" dirty="0" err="1">
                <a:latin typeface="Amasis MT Pro Black" panose="02040A04050005020304" pitchFamily="18" charset="0"/>
                <a:cs typeface="Aharoni" panose="02010803020104030203" pitchFamily="2" charset="-79"/>
              </a:rPr>
              <a:t>automatique</a:t>
            </a:r>
            <a:br>
              <a:rPr lang="en-US" sz="1000" dirty="0">
                <a:latin typeface="Amasis MT Pro Black" panose="02040A04050005020304" pitchFamily="18" charset="0"/>
                <a:cs typeface="Aharoni" panose="02010803020104030203" pitchFamily="2" charset="-79"/>
              </a:rPr>
            </a:br>
            <a:br>
              <a:rPr sz="1000" dirty="0">
                <a:latin typeface="Amasis MT Pro Black" panose="02040A04050005020304" pitchFamily="18" charset="0"/>
                <a:cs typeface="Aharoni" panose="02010803020104030203" pitchFamily="2" charset="-79"/>
              </a:rPr>
            </a:br>
            <a:r>
              <a:rPr sz="1000" dirty="0" err="1">
                <a:latin typeface="Amasis MT Pro Black" panose="02040A04050005020304" pitchFamily="18" charset="0"/>
                <a:cs typeface="Aharoni" panose="02010803020104030203" pitchFamily="2" charset="-79"/>
              </a:rPr>
              <a:t>Combinaison</a:t>
            </a:r>
            <a:r>
              <a:rPr sz="1000" dirty="0">
                <a:latin typeface="Amasis MT Pro Black" panose="02040A04050005020304" pitchFamily="18" charset="0"/>
                <a:cs typeface="Aharoni" panose="02010803020104030203" pitchFamily="2" charset="-79"/>
              </a:rPr>
              <a:t> : </a:t>
            </a:r>
            <a:r>
              <a:rPr sz="1000" dirty="0" err="1">
                <a:latin typeface="Amasis MT Pro Black" panose="02040A04050005020304" pitchFamily="18" charset="0"/>
                <a:cs typeface="Aharoni" panose="02010803020104030203" pitchFamily="2" charset="-79"/>
              </a:rPr>
              <a:t>Souvent</a:t>
            </a:r>
            <a:r>
              <a:rPr sz="1000" dirty="0">
                <a:latin typeface="Amasis MT Pro Black" panose="02040A04050005020304" pitchFamily="18" charset="0"/>
                <a:cs typeface="Aharoni" panose="02010803020104030203" pitchFamily="2" charset="-79"/>
              </a:rPr>
              <a:t> </a:t>
            </a:r>
            <a:r>
              <a:rPr sz="1000" dirty="0" err="1">
                <a:latin typeface="Amasis MT Pro Black" panose="02040A04050005020304" pitchFamily="18" charset="0"/>
                <a:cs typeface="Aharoni" panose="02010803020104030203" pitchFamily="2" charset="-79"/>
              </a:rPr>
              <a:t>utilisé</a:t>
            </a:r>
            <a:r>
              <a:rPr sz="1000" dirty="0">
                <a:latin typeface="Amasis MT Pro Black" panose="02040A04050005020304" pitchFamily="18" charset="0"/>
                <a:cs typeface="Aharoni" panose="02010803020104030203" pitchFamily="2" charset="-79"/>
              </a:rPr>
              <a:t> avec </a:t>
            </a:r>
            <a:r>
              <a:rPr sz="1000" dirty="0" err="1">
                <a:latin typeface="Amasis MT Pro Black" panose="02040A04050005020304" pitchFamily="18" charset="0"/>
                <a:cs typeface="Aharoni" panose="02010803020104030203" pitchFamily="2" charset="-79"/>
              </a:rPr>
              <a:t>marqueurs</a:t>
            </a:r>
            <a:r>
              <a:rPr sz="1000" dirty="0">
                <a:latin typeface="Amasis MT Pro Black" panose="02040A04050005020304" pitchFamily="18" charset="0"/>
                <a:cs typeface="Aharoni" panose="02010803020104030203" pitchFamily="2" charset="-79"/>
              </a:rPr>
              <a:t> + gradient </a:t>
            </a:r>
            <a:r>
              <a:rPr sz="1000" dirty="0" err="1">
                <a:latin typeface="Amasis MT Pro Black" panose="02040A04050005020304" pitchFamily="18" charset="0"/>
                <a:cs typeface="Aharoni" panose="02010803020104030203" pitchFamily="2" charset="-79"/>
              </a:rPr>
              <a:t>morphologique</a:t>
            </a:r>
            <a:r>
              <a:rPr sz="1000" dirty="0">
                <a:latin typeface="Amasis MT Pro Black" panose="02040A04050005020304" pitchFamily="18" charset="0"/>
                <a:cs typeface="Aharoni" panose="02010803020104030203" pitchFamily="2" charset="-79"/>
              </a:rPr>
              <a:t> pour </a:t>
            </a:r>
            <a:r>
              <a:rPr sz="1000" dirty="0" err="1">
                <a:latin typeface="Amasis MT Pro Black" panose="02040A04050005020304" pitchFamily="18" charset="0"/>
                <a:cs typeface="Aharoni" panose="02010803020104030203" pitchFamily="2" charset="-79"/>
              </a:rPr>
              <a:t>meilleurs</a:t>
            </a:r>
            <a:r>
              <a:rPr sz="1000" dirty="0">
                <a:latin typeface="Amasis MT Pro Black" panose="02040A04050005020304" pitchFamily="18" charset="0"/>
                <a:cs typeface="Aharoni" panose="02010803020104030203" pitchFamily="2" charset="-79"/>
              </a:rPr>
              <a:t> </a:t>
            </a:r>
            <a:r>
              <a:rPr sz="1000" dirty="0" err="1">
                <a:latin typeface="Amasis MT Pro Black" panose="02040A04050005020304" pitchFamily="18" charset="0"/>
                <a:cs typeface="Aharoni" panose="02010803020104030203" pitchFamily="2" charset="-79"/>
              </a:rPr>
              <a:t>résultats</a:t>
            </a:r>
            <a:endParaRPr sz="1000" dirty="0">
              <a:latin typeface="Amasis MT Pro Black" panose="02040A04050005020304" pitchFamily="18" charset="0"/>
              <a:cs typeface="Aharoni" panose="02010803020104030203" pitchFamily="2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EFFFCB-A759-D732-FAE1-F2BC74595DAC}"/>
              </a:ext>
            </a:extLst>
          </p:cNvPr>
          <p:cNvSpPr txBox="1"/>
          <p:nvPr/>
        </p:nvSpPr>
        <p:spPr>
          <a:xfrm>
            <a:off x="8725296" y="47988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5900" y="274320"/>
            <a:ext cx="4463081" cy="461665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defRPr sz="4000" b="1">
                <a:solidFill>
                  <a:srgbClr val="1E2761"/>
                </a:solidFill>
                <a:latin typeface="Calibri"/>
              </a:defRPr>
            </a:pPr>
            <a:r>
              <a:rPr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Conseils </a:t>
            </a:r>
            <a:r>
              <a:rPr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d'Implémentation</a:t>
            </a:r>
            <a:endParaRPr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89837" y="810733"/>
            <a:ext cx="7134447" cy="342900"/>
          </a:xfrm>
          <a:prstGeom prst="rect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1350"/>
              <a:t>Implémentation Python (OpenCV)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9837" y="1180638"/>
            <a:ext cx="7134447" cy="2235608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1588770" y="1149916"/>
            <a:ext cx="4160113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nsolas"/>
              </a:defRPr>
            </a:pPr>
            <a:r>
              <a:rPr sz="900" dirty="0"/>
              <a:t>import cv2</a:t>
            </a:r>
            <a:br>
              <a:rPr sz="900" dirty="0"/>
            </a:br>
            <a:r>
              <a:rPr sz="900" dirty="0"/>
              <a:t>import </a:t>
            </a:r>
            <a:r>
              <a:rPr sz="900" dirty="0" err="1"/>
              <a:t>numpy</a:t>
            </a:r>
            <a:r>
              <a:rPr sz="900" dirty="0"/>
              <a:t> as np</a:t>
            </a:r>
            <a:br>
              <a:rPr sz="900" dirty="0"/>
            </a:br>
            <a:br>
              <a:rPr sz="900" dirty="0"/>
            </a:br>
            <a:r>
              <a:rPr sz="900" dirty="0"/>
              <a:t># </a:t>
            </a:r>
            <a:r>
              <a:rPr sz="900" dirty="0" err="1"/>
              <a:t>Définir</a:t>
            </a:r>
            <a:r>
              <a:rPr sz="900" dirty="0"/>
              <a:t> </a:t>
            </a:r>
            <a:r>
              <a:rPr sz="900" dirty="0" err="1"/>
              <a:t>élément</a:t>
            </a:r>
            <a:r>
              <a:rPr sz="900" dirty="0"/>
              <a:t> </a:t>
            </a:r>
            <a:r>
              <a:rPr sz="900" dirty="0" err="1"/>
              <a:t>structurant</a:t>
            </a:r>
            <a:br>
              <a:rPr sz="900" dirty="0"/>
            </a:br>
            <a:r>
              <a:rPr sz="900" dirty="0"/>
              <a:t>kernel = cv2.getStructuringElement(cv2.MORPH_RECT, (5,5))</a:t>
            </a:r>
            <a:br>
              <a:rPr sz="900" dirty="0"/>
            </a:br>
            <a:r>
              <a:rPr sz="900" dirty="0"/>
              <a:t># </a:t>
            </a:r>
            <a:r>
              <a:rPr sz="900" dirty="0" err="1"/>
              <a:t>Autres</a:t>
            </a:r>
            <a:r>
              <a:rPr sz="900" dirty="0"/>
              <a:t> options: MORPH_ELLIPSE, MORPH_CROSS</a:t>
            </a:r>
            <a:br>
              <a:rPr sz="900" dirty="0"/>
            </a:br>
            <a:br>
              <a:rPr sz="900" dirty="0"/>
            </a:br>
            <a:r>
              <a:rPr sz="900" dirty="0"/>
              <a:t># </a:t>
            </a:r>
            <a:r>
              <a:rPr sz="900" dirty="0" err="1"/>
              <a:t>Opérations</a:t>
            </a:r>
            <a:r>
              <a:rPr sz="900" dirty="0"/>
              <a:t> de base</a:t>
            </a:r>
            <a:br>
              <a:rPr sz="900" dirty="0"/>
            </a:br>
            <a:r>
              <a:rPr sz="900" dirty="0"/>
              <a:t>erosion = cv2.erode(image, kernel, iterations=1)</a:t>
            </a:r>
            <a:br>
              <a:rPr sz="900" dirty="0"/>
            </a:br>
            <a:r>
              <a:rPr sz="900" dirty="0"/>
              <a:t>dilation = cv2.dilate(image, kernel, iterations=1)</a:t>
            </a:r>
            <a:br>
              <a:rPr sz="900" dirty="0"/>
            </a:br>
            <a:r>
              <a:rPr sz="900" dirty="0"/>
              <a:t>opening = cv2.morphologyEx(image, cv2.MORPH_OPEN, kernel)</a:t>
            </a:r>
            <a:br>
              <a:rPr sz="900" dirty="0"/>
            </a:br>
            <a:r>
              <a:rPr sz="900" dirty="0"/>
              <a:t>closing = cv2.morphologyEx(image, cv2.MORPH_CLOSE, kernel)</a:t>
            </a:r>
            <a:br>
              <a:rPr sz="900" dirty="0"/>
            </a:br>
            <a:br>
              <a:rPr sz="900" dirty="0"/>
            </a:br>
            <a:r>
              <a:rPr sz="900" dirty="0"/>
              <a:t># </a:t>
            </a:r>
            <a:r>
              <a:rPr sz="900" dirty="0" err="1"/>
              <a:t>Opérations</a:t>
            </a:r>
            <a:r>
              <a:rPr sz="900" dirty="0"/>
              <a:t> </a:t>
            </a:r>
            <a:r>
              <a:rPr sz="900" dirty="0" err="1"/>
              <a:t>avancées</a:t>
            </a:r>
            <a:br>
              <a:rPr sz="900" dirty="0"/>
            </a:br>
            <a:r>
              <a:rPr sz="900" dirty="0"/>
              <a:t>gradient = cv2.morphologyEx(image, cv2.MORPH_GRADIENT, kernel)</a:t>
            </a:r>
            <a:br>
              <a:rPr sz="900" dirty="0"/>
            </a:br>
            <a:r>
              <a:rPr sz="900" dirty="0" err="1"/>
              <a:t>tophat</a:t>
            </a:r>
            <a:r>
              <a:rPr sz="900" dirty="0"/>
              <a:t> = cv2.morphologyEx(image, cv2.MORPH_TOPHAT, kernel)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9837" y="3458240"/>
            <a:ext cx="7134447" cy="342900"/>
          </a:xfrm>
          <a:prstGeom prst="rect">
            <a:avLst/>
          </a:prstGeom>
          <a:solidFill>
            <a:srgbClr val="8D989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1350"/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510" y="3911607"/>
            <a:ext cx="1605250" cy="330860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Taille du SE 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884603"/>
            <a:ext cx="6263640" cy="330860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400"/>
              <a:t>Commencer petit (3×3) puis augmenter si nécessaire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510" y="4131063"/>
            <a:ext cx="1323304" cy="330860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Itérations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: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104059"/>
            <a:ext cx="6263640" cy="330860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400"/>
              <a:t>Préférer plusieurs petites opérations qu'une grande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509" y="4350519"/>
            <a:ext cx="1519235" cy="330860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Pré-traitement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: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323515"/>
            <a:ext cx="6263640" cy="330860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400"/>
              <a:t>Appliquer un flou gaussien avant pour réduire le bruit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6508" y="4596796"/>
            <a:ext cx="1323304" cy="330860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Forme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du SE 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542971"/>
            <a:ext cx="6263640" cy="330860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400"/>
              <a:t>Carré pour structures générales, ellipse pour formes rondes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510" y="4816434"/>
            <a:ext cx="1323304" cy="546303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Performance :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762427"/>
            <a:ext cx="6263640" cy="330860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Calibri"/>
              </a:defRPr>
            </a:pPr>
            <a:r>
              <a:rPr sz="1400"/>
              <a:t>Les opérations sont coûteuses - optimiser la taille d'image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CCE390-D03A-E110-B663-13E1FD644C5D}"/>
              </a:ext>
            </a:extLst>
          </p:cNvPr>
          <p:cNvSpPr txBox="1"/>
          <p:nvPr/>
        </p:nvSpPr>
        <p:spPr>
          <a:xfrm>
            <a:off x="8725296" y="47988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D98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7892" y="205991"/>
            <a:ext cx="3788218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sz="3300" dirty="0"/>
              <a:t>Points </a:t>
            </a:r>
            <a:r>
              <a:rPr sz="3300" dirty="0" err="1"/>
              <a:t>Clés</a:t>
            </a:r>
            <a:r>
              <a:rPr sz="3300" dirty="0"/>
              <a:t> à </a:t>
            </a:r>
            <a:r>
              <a:rPr sz="3300" dirty="0" err="1"/>
              <a:t>Retenir</a:t>
            </a:r>
            <a:endParaRPr sz="3300" dirty="0"/>
          </a:p>
        </p:txBody>
      </p:sp>
      <p:sp>
        <p:nvSpPr>
          <p:cNvPr id="3" name="Oval 2"/>
          <p:cNvSpPr/>
          <p:nvPr/>
        </p:nvSpPr>
        <p:spPr>
          <a:xfrm>
            <a:off x="196701" y="1083195"/>
            <a:ext cx="274320" cy="274320"/>
          </a:xfrm>
          <a:prstGeom prst="ellipse">
            <a:avLst/>
          </a:prstGeom>
          <a:solidFill>
            <a:srgbClr val="8D989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sz="1200" dirty="0"/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1747" y="919068"/>
            <a:ext cx="8553895" cy="854080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sz="2400" dirty="0"/>
              <a:t>Quatre </a:t>
            </a:r>
            <a:r>
              <a:rPr sz="2400" dirty="0" err="1"/>
              <a:t>opérations</a:t>
            </a:r>
            <a:r>
              <a:rPr sz="2400" dirty="0"/>
              <a:t> </a:t>
            </a:r>
            <a:r>
              <a:rPr sz="2400" dirty="0" err="1"/>
              <a:t>fondamentales</a:t>
            </a:r>
            <a:r>
              <a:rPr sz="2400" dirty="0"/>
              <a:t> : </a:t>
            </a:r>
            <a:r>
              <a:rPr sz="2400" dirty="0" err="1"/>
              <a:t>Érosion</a:t>
            </a:r>
            <a:r>
              <a:rPr sz="2400" dirty="0"/>
              <a:t>, Dilatation, </a:t>
            </a:r>
            <a:r>
              <a:rPr sz="2400" dirty="0" err="1"/>
              <a:t>Ouverture</a:t>
            </a:r>
            <a:r>
              <a:rPr sz="2400" dirty="0"/>
              <a:t>, Fermeture</a:t>
            </a:r>
          </a:p>
        </p:txBody>
      </p:sp>
      <p:sp>
        <p:nvSpPr>
          <p:cNvPr id="5" name="Oval 4"/>
          <p:cNvSpPr/>
          <p:nvPr/>
        </p:nvSpPr>
        <p:spPr>
          <a:xfrm>
            <a:off x="174371" y="1793182"/>
            <a:ext cx="274320" cy="274320"/>
          </a:xfrm>
          <a:prstGeom prst="ellipse">
            <a:avLst/>
          </a:prstGeom>
          <a:solidFill>
            <a:srgbClr val="8D989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sz="1200" dirty="0"/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747" y="1601527"/>
            <a:ext cx="9058941" cy="854080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sz="2400" dirty="0" err="1"/>
              <a:t>L'élément</a:t>
            </a:r>
            <a:r>
              <a:rPr sz="2400" dirty="0"/>
              <a:t> </a:t>
            </a:r>
            <a:r>
              <a:rPr sz="2400" dirty="0" err="1"/>
              <a:t>structurant</a:t>
            </a:r>
            <a:r>
              <a:rPr sz="2400" dirty="0"/>
              <a:t> </a:t>
            </a:r>
            <a:r>
              <a:rPr sz="2400" dirty="0" err="1"/>
              <a:t>détermine</a:t>
            </a:r>
            <a:r>
              <a:rPr sz="2400" dirty="0"/>
              <a:t> le </a:t>
            </a:r>
            <a:r>
              <a:rPr sz="2400" dirty="0" err="1"/>
              <a:t>comportement</a:t>
            </a:r>
            <a:r>
              <a:rPr sz="2400" dirty="0"/>
              <a:t> de </a:t>
            </a:r>
            <a:r>
              <a:rPr sz="2400" dirty="0" err="1"/>
              <a:t>chaque</a:t>
            </a:r>
            <a:r>
              <a:rPr sz="2400" dirty="0"/>
              <a:t> </a:t>
            </a:r>
            <a:r>
              <a:rPr sz="2400" dirty="0" err="1"/>
              <a:t>opération</a:t>
            </a:r>
            <a:endParaRPr sz="2400" dirty="0"/>
          </a:p>
        </p:txBody>
      </p:sp>
      <p:sp>
        <p:nvSpPr>
          <p:cNvPr id="7" name="Oval 6"/>
          <p:cNvSpPr/>
          <p:nvPr/>
        </p:nvSpPr>
        <p:spPr>
          <a:xfrm>
            <a:off x="165867" y="2571750"/>
            <a:ext cx="274320" cy="274320"/>
          </a:xfrm>
          <a:prstGeom prst="ellipse">
            <a:avLst/>
          </a:prstGeom>
          <a:solidFill>
            <a:srgbClr val="8D989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sz="1200" dirty="0"/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088" y="3122295"/>
            <a:ext cx="9266276" cy="854080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sz="2400" dirty="0" err="1"/>
              <a:t>Érosion</a:t>
            </a:r>
            <a:r>
              <a:rPr sz="2400" dirty="0"/>
              <a:t>/Dilatation </a:t>
            </a:r>
            <a:r>
              <a:rPr sz="2400" dirty="0" err="1"/>
              <a:t>sont</a:t>
            </a:r>
            <a:r>
              <a:rPr sz="2400" dirty="0"/>
              <a:t> </a:t>
            </a:r>
            <a:r>
              <a:rPr sz="2400" dirty="0" err="1"/>
              <a:t>duales</a:t>
            </a:r>
            <a:r>
              <a:rPr sz="2400" dirty="0"/>
              <a:t> - </a:t>
            </a:r>
            <a:r>
              <a:rPr sz="2400" dirty="0" err="1"/>
              <a:t>Ouverture</a:t>
            </a:r>
            <a:r>
              <a:rPr sz="2400" dirty="0"/>
              <a:t>/Fermeture </a:t>
            </a:r>
            <a:r>
              <a:rPr sz="2400" dirty="0" err="1"/>
              <a:t>sont</a:t>
            </a:r>
            <a:r>
              <a:rPr sz="2400" dirty="0"/>
              <a:t> </a:t>
            </a:r>
            <a:r>
              <a:rPr sz="2400" dirty="0" err="1"/>
              <a:t>complémentaires</a:t>
            </a:r>
            <a:endParaRPr sz="2400" dirty="0"/>
          </a:p>
        </p:txBody>
      </p:sp>
      <p:sp>
        <p:nvSpPr>
          <p:cNvPr id="9" name="Oval 8"/>
          <p:cNvSpPr/>
          <p:nvPr/>
        </p:nvSpPr>
        <p:spPr>
          <a:xfrm>
            <a:off x="165867" y="2964357"/>
            <a:ext cx="274320" cy="274320"/>
          </a:xfrm>
          <a:prstGeom prst="ellipse">
            <a:avLst/>
          </a:prstGeom>
          <a:solidFill>
            <a:srgbClr val="8D989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sz="1200" dirty="0"/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747" y="2380880"/>
            <a:ext cx="8553895" cy="854080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sz="2400" dirty="0"/>
              <a:t>Applications </a:t>
            </a:r>
            <a:r>
              <a:rPr sz="2400" dirty="0" err="1"/>
              <a:t>vastes</a:t>
            </a:r>
            <a:r>
              <a:rPr sz="2400" dirty="0"/>
              <a:t> : </a:t>
            </a:r>
            <a:r>
              <a:rPr sz="2400" dirty="0" err="1"/>
              <a:t>médical</a:t>
            </a:r>
            <a:r>
              <a:rPr sz="2400" dirty="0"/>
              <a:t>, </a:t>
            </a:r>
            <a:r>
              <a:rPr sz="2400" dirty="0" err="1"/>
              <a:t>industriel</a:t>
            </a:r>
            <a:r>
              <a:rPr sz="2400" dirty="0"/>
              <a:t>, reconnaissance, </a:t>
            </a:r>
            <a:r>
              <a:rPr sz="2400" dirty="0" err="1"/>
              <a:t>télédétection</a:t>
            </a:r>
            <a:endParaRPr sz="2400" dirty="0"/>
          </a:p>
        </p:txBody>
      </p:sp>
      <p:sp>
        <p:nvSpPr>
          <p:cNvPr id="11" name="Oval 10"/>
          <p:cNvSpPr/>
          <p:nvPr/>
        </p:nvSpPr>
        <p:spPr>
          <a:xfrm>
            <a:off x="165867" y="3805476"/>
            <a:ext cx="274320" cy="274320"/>
          </a:xfrm>
          <a:prstGeom prst="ellipse">
            <a:avLst/>
          </a:prstGeom>
          <a:solidFill>
            <a:srgbClr val="8D989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sz="1200" dirty="0"/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533" y="3824920"/>
            <a:ext cx="8380582" cy="854080"/>
          </a:xfrm>
          <a:prstGeom prst="rect">
            <a:avLst/>
          </a:prstGeom>
          <a:noFill/>
        </p:spPr>
        <p:txBody>
          <a:bodyPr wrap="square" tIns="68580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sz="2400" dirty="0" err="1"/>
              <a:t>Combinaisons</a:t>
            </a:r>
            <a:r>
              <a:rPr sz="2400" dirty="0"/>
              <a:t> </a:t>
            </a:r>
            <a:r>
              <a:rPr sz="2400" dirty="0" err="1"/>
              <a:t>d'opérations</a:t>
            </a:r>
            <a:r>
              <a:rPr sz="2400" dirty="0"/>
              <a:t> </a:t>
            </a:r>
            <a:r>
              <a:rPr sz="2400" dirty="0" err="1"/>
              <a:t>permettent</a:t>
            </a:r>
            <a:r>
              <a:rPr sz="2400" dirty="0"/>
              <a:t> des </a:t>
            </a:r>
            <a:r>
              <a:rPr sz="2400" dirty="0" err="1"/>
              <a:t>traitements</a:t>
            </a:r>
            <a:r>
              <a:rPr sz="2400" dirty="0"/>
              <a:t> </a:t>
            </a:r>
            <a:r>
              <a:rPr sz="2400" dirty="0" err="1"/>
              <a:t>sophistiqués</a:t>
            </a:r>
            <a:endParaRPr sz="2400" dirty="0"/>
          </a:p>
        </p:txBody>
      </p:sp>
      <p:sp>
        <p:nvSpPr>
          <p:cNvPr id="13" name="Rectangle 12"/>
          <p:cNvSpPr/>
          <p:nvPr/>
        </p:nvSpPr>
        <p:spPr>
          <a:xfrm>
            <a:off x="2514600" y="4251960"/>
            <a:ext cx="4114800" cy="54864"/>
          </a:xfrm>
          <a:prstGeom prst="rect">
            <a:avLst/>
          </a:prstGeom>
          <a:solidFill>
            <a:srgbClr val="8D989F"/>
          </a:solidFill>
          <a:ln>
            <a:solidFill>
              <a:srgbClr val="8D9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1944517" y="4617876"/>
            <a:ext cx="5254965" cy="3462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CADCFC"/>
                </a:solidFill>
                <a:latin typeface="Calibri Light"/>
              </a:defRPr>
            </a:pPr>
            <a:r>
              <a:rPr sz="16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 </a:t>
            </a:r>
            <a:r>
              <a:rPr sz="16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morphologie</a:t>
            </a:r>
            <a:r>
              <a:rPr sz="16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6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mathématique</a:t>
            </a:r>
            <a:r>
              <a:rPr sz="16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: un </a:t>
            </a:r>
            <a:r>
              <a:rPr sz="16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outil</a:t>
            </a:r>
            <a:r>
              <a:rPr sz="16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puissant et </a:t>
            </a:r>
            <a:r>
              <a:rPr sz="16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élégant</a:t>
            </a:r>
            <a:endParaRPr sz="16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1B98F9-CDC7-CAB1-9751-60D1FE202F51}"/>
              </a:ext>
            </a:extLst>
          </p:cNvPr>
          <p:cNvSpPr txBox="1"/>
          <p:nvPr/>
        </p:nvSpPr>
        <p:spPr>
          <a:xfrm>
            <a:off x="8725296" y="47988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487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2478</Words>
  <Application>Microsoft Office PowerPoint</Application>
  <PresentationFormat>On-screen Show (16:9)</PresentationFormat>
  <Paragraphs>297</Paragraphs>
  <Slides>22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Amasis MT Pro Black</vt:lpstr>
      <vt:lpstr>Arial</vt:lpstr>
      <vt:lpstr>Calibri</vt:lpstr>
      <vt:lpstr>Calibri Light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Project Interface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</dc:title>
  <dc:subject>Morphologie Mathématique &amp; YOLO</dc:subject>
  <dc:creator>A.IDHMAD</dc:creator>
  <cp:lastModifiedBy>PC</cp:lastModifiedBy>
  <cp:revision>3</cp:revision>
  <dcterms:created xsi:type="dcterms:W3CDTF">2026-02-05T18:14:52Z</dcterms:created>
  <dcterms:modified xsi:type="dcterms:W3CDTF">2026-02-06T06:04:52Z</dcterms:modified>
</cp:coreProperties>
</file>